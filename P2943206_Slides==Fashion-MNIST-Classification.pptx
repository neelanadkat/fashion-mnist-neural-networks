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latypi Light" panose="020B0604020202020204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  <p:bold r:id="rId18"/>
      <p:italic r:id="rId19"/>
      <p:boldItalic r:id="rId20"/>
    </p:embeddedFont>
    <p:embeddedFont>
      <p:font typeface="Source Serif 4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52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hyperlink" Target="https://github.com/zalandoresearch/fashion-mnis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1985724"/>
            <a:ext cx="7556421" cy="1700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lang="en-US" sz="355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Project Title: Fashion-MNIST Classification ANN vs CNN Comparative Analysis</a:t>
            </a:r>
            <a:endParaRPr sz="3550" b="0" i="0" u="none" strike="noStrike" cap="none"/>
          </a:p>
        </p:txBody>
      </p:sp>
      <p:sp>
        <p:nvSpPr>
          <p:cNvPr id="58" name="Google Shape;58;p13"/>
          <p:cNvSpPr/>
          <p:nvPr/>
        </p:nvSpPr>
        <p:spPr>
          <a:xfrm>
            <a:off x="6280190" y="402681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lang="en-US" sz="17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Presenter’s Name (</a:t>
            </a:r>
            <a:r>
              <a:rPr 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NEEL ANADKAT – P2943206</a:t>
            </a:r>
            <a:r>
              <a:rPr lang="en-US" sz="17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): </a:t>
            </a:r>
            <a:endParaRPr sz="1750" b="0" i="0" u="none" strike="noStrike" cap="none" dirty="0"/>
          </a:p>
        </p:txBody>
      </p:sp>
      <p:sp>
        <p:nvSpPr>
          <p:cNvPr id="59" name="Google Shape;59;p13"/>
          <p:cNvSpPr/>
          <p:nvPr/>
        </p:nvSpPr>
        <p:spPr>
          <a:xfrm>
            <a:off x="6280190" y="464486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ARTIFICIAL INTELLIGENCE (MSC)</a:t>
            </a:r>
            <a:r>
              <a:rPr lang="en-US" sz="17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endParaRPr sz="1750" b="0" i="0" u="none" strike="noStrike" cap="none" dirty="0"/>
          </a:p>
        </p:txBody>
      </p:sp>
      <p:sp>
        <p:nvSpPr>
          <p:cNvPr id="60" name="Google Shape;60;p13"/>
          <p:cNvSpPr/>
          <p:nvPr/>
        </p:nvSpPr>
        <p:spPr>
          <a:xfrm>
            <a:off x="6280190" y="5262920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lang="en-US" sz="17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Date of Presentation : 17 NOV 2025 </a:t>
            </a:r>
            <a:endParaRPr sz="1750" b="0" i="0" u="none" strike="noStrike" cap="none" dirty="0"/>
          </a:p>
        </p:txBody>
      </p:sp>
      <p:sp>
        <p:nvSpPr>
          <p:cNvPr id="61" name="Google Shape;61;p13"/>
          <p:cNvSpPr/>
          <p:nvPr/>
        </p:nvSpPr>
        <p:spPr>
          <a:xfrm>
            <a:off x="6280190" y="588097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175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793790" y="130814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Introduction</a:t>
            </a:r>
            <a:endParaRPr sz="4450" b="0" i="0" u="none" strike="noStrike" cap="none"/>
          </a:p>
        </p:txBody>
      </p:sp>
      <p:sp>
        <p:nvSpPr>
          <p:cNvPr id="69" name="Google Shape;69;p14"/>
          <p:cNvSpPr/>
          <p:nvPr/>
        </p:nvSpPr>
        <p:spPr>
          <a:xfrm>
            <a:off x="793790" y="2107644"/>
            <a:ext cx="3629620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lang="en-US" sz="265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Fashion-MNIST?</a:t>
            </a:r>
            <a:endParaRPr sz="2650" b="0" i="0" u="none" strike="noStrike" cap="none"/>
          </a:p>
        </p:txBody>
      </p:sp>
      <p:sp>
        <p:nvSpPr>
          <p:cNvPr id="70" name="Google Shape;70;p14"/>
          <p:cNvSpPr/>
          <p:nvPr/>
        </p:nvSpPr>
        <p:spPr>
          <a:xfrm>
            <a:off x="793790" y="2873097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Modern benchmark for image classification with 70,000 grayscale images across 10 clothing categories. More challenging than traditional MNIST digits, providing real-world application for automated clothing categorization in e-commerce.</a:t>
            </a:r>
            <a:endParaRPr sz="1750" b="0" i="0" u="none" strike="noStrike" cap="none"/>
          </a:p>
        </p:txBody>
      </p:sp>
      <p:sp>
        <p:nvSpPr>
          <p:cNvPr id="71" name="Google Shape;71;p14"/>
          <p:cNvSpPr/>
          <p:nvPr/>
        </p:nvSpPr>
        <p:spPr>
          <a:xfrm>
            <a:off x="793790" y="39390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Research Question</a:t>
            </a:r>
            <a:endParaRPr sz="2200" b="0" i="0" u="none" strike="noStrike" cap="none"/>
          </a:p>
        </p:txBody>
      </p:sp>
      <p:sp>
        <p:nvSpPr>
          <p:cNvPr id="72" name="Google Shape;72;p14"/>
          <p:cNvSpPr/>
          <p:nvPr/>
        </p:nvSpPr>
        <p:spPr>
          <a:xfrm>
            <a:off x="793790" y="463355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 Convolutional Neural Networks significantly outperform traditional ANNs for clothing image classification?</a:t>
            </a:r>
            <a:endParaRPr sz="1750" b="0" i="0" u="none" strike="noStrike" cap="none"/>
          </a:p>
        </p:txBody>
      </p:sp>
      <p:sp>
        <p:nvSpPr>
          <p:cNvPr id="73" name="Google Shape;73;p14"/>
          <p:cNvSpPr/>
          <p:nvPr/>
        </p:nvSpPr>
        <p:spPr>
          <a:xfrm>
            <a:off x="793790" y="5251609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020604" y="54784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Challenge</a:t>
            </a:r>
            <a:endParaRPr sz="2200" b="0" i="0" u="none" strike="noStrike" cap="none"/>
          </a:p>
        </p:txBody>
      </p:sp>
      <p:sp>
        <p:nvSpPr>
          <p:cNvPr id="75" name="Google Shape;75;p14"/>
          <p:cNvSpPr/>
          <p:nvPr/>
        </p:nvSpPr>
        <p:spPr>
          <a:xfrm>
            <a:off x="1020604" y="5968841"/>
            <a:ext cx="5954316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Distinguishing visually similar garments like shirts vs t-shirts, coats vs pullovers</a:t>
            </a:r>
            <a:endParaRPr sz="175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7428548" y="5251609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7655362" y="54784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Dataset Scale</a:t>
            </a:r>
            <a:endParaRPr sz="2200" b="0" i="0" u="none" strike="noStrike" cap="none"/>
          </a:p>
        </p:txBody>
      </p:sp>
      <p:sp>
        <p:nvSpPr>
          <p:cNvPr id="78" name="Google Shape;78;p14"/>
          <p:cNvSpPr/>
          <p:nvPr/>
        </p:nvSpPr>
        <p:spPr>
          <a:xfrm>
            <a:off x="7655362" y="5968841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60,000 training images, 10,000 test images, 28×28 pixel resolution</a:t>
            </a:r>
            <a:endParaRPr sz="1750" b="0" i="0" u="none" strike="noStrike" cap="none"/>
          </a:p>
        </p:txBody>
      </p:sp>
      <p:sp>
        <p:nvSpPr>
          <p:cNvPr id="79" name="Google Shape;79;p14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748784" y="588288"/>
            <a:ext cx="5348764" cy="66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lang="en-US" sz="42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Objectives &amp; Goals</a:t>
            </a:r>
            <a:endParaRPr sz="4200" b="0" i="0" u="none" strike="noStrike" cap="none"/>
          </a:p>
        </p:txBody>
      </p:sp>
      <p:sp>
        <p:nvSpPr>
          <p:cNvPr id="86" name="Google Shape;86;p15"/>
          <p:cNvSpPr/>
          <p:nvPr/>
        </p:nvSpPr>
        <p:spPr>
          <a:xfrm>
            <a:off x="748784" y="1684615"/>
            <a:ext cx="213836" cy="26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Light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Light"/>
                <a:ea typeface="Platypi Light"/>
                <a:cs typeface="Platypi Light"/>
                <a:sym typeface="Platypi Light"/>
              </a:rPr>
              <a:t>01</a:t>
            </a:r>
            <a:endParaRPr sz="1650" b="0" i="0" u="none" strike="noStrike" cap="none"/>
          </a:p>
        </p:txBody>
      </p:sp>
      <p:sp>
        <p:nvSpPr>
          <p:cNvPr id="87" name="Google Shape;87;p15"/>
          <p:cNvSpPr/>
          <p:nvPr/>
        </p:nvSpPr>
        <p:spPr>
          <a:xfrm>
            <a:off x="748784" y="2017752"/>
            <a:ext cx="6459498" cy="3048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748784" y="2392678"/>
            <a:ext cx="3813215" cy="3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 b="0" i="0" u="none" strike="noStrike" cap="none" dirty="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 ANN Architecture</a:t>
            </a:r>
            <a:endParaRPr sz="2100" b="0" i="0" u="none" strike="noStrike" cap="none" dirty="0"/>
          </a:p>
        </p:txBody>
      </p:sp>
      <p:sp>
        <p:nvSpPr>
          <p:cNvPr id="89" name="Google Shape;89;p15"/>
          <p:cNvSpPr/>
          <p:nvPr/>
        </p:nvSpPr>
        <p:spPr>
          <a:xfrm>
            <a:off x="748784" y="3052701"/>
            <a:ext cx="6459498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lang="en-US" sz="16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Build Multi-Layer Perceptron with dropout regularization</a:t>
            </a:r>
            <a:endParaRPr sz="1650" b="0" i="0" u="none" strike="noStrike" cap="none" dirty="0"/>
          </a:p>
        </p:txBody>
      </p:sp>
      <p:sp>
        <p:nvSpPr>
          <p:cNvPr id="90" name="Google Shape;90;p15"/>
          <p:cNvSpPr/>
          <p:nvPr/>
        </p:nvSpPr>
        <p:spPr>
          <a:xfrm>
            <a:off x="7422118" y="1684615"/>
            <a:ext cx="213836" cy="26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Light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Light"/>
                <a:ea typeface="Platypi Light"/>
                <a:cs typeface="Platypi Light"/>
                <a:sym typeface="Platypi Light"/>
              </a:rPr>
              <a:t>02</a:t>
            </a:r>
            <a:endParaRPr sz="1650" b="0" i="0" u="none" strike="noStrike" cap="none"/>
          </a:p>
        </p:txBody>
      </p:sp>
      <p:sp>
        <p:nvSpPr>
          <p:cNvPr id="91" name="Google Shape;91;p15"/>
          <p:cNvSpPr/>
          <p:nvPr/>
        </p:nvSpPr>
        <p:spPr>
          <a:xfrm>
            <a:off x="7422118" y="2017752"/>
            <a:ext cx="6459498" cy="3048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7422118" y="2363521"/>
            <a:ext cx="3798332" cy="3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 b="0" i="0" u="none" strike="noStrike" cap="none" dirty="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 CNN Architecture</a:t>
            </a:r>
            <a:endParaRPr sz="2100" b="0" i="0" u="none" strike="noStrike" cap="none" dirty="0"/>
          </a:p>
        </p:txBody>
      </p:sp>
      <p:sp>
        <p:nvSpPr>
          <p:cNvPr id="93" name="Google Shape;93;p15"/>
          <p:cNvSpPr/>
          <p:nvPr/>
        </p:nvSpPr>
        <p:spPr>
          <a:xfrm>
            <a:off x="7422118" y="3059906"/>
            <a:ext cx="6459498" cy="684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lang="en-US" sz="16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Create convolutional network with batch normalization and modern techniques</a:t>
            </a:r>
            <a:endParaRPr sz="1650" b="0" i="0" u="none" strike="noStrike" cap="none" dirty="0"/>
          </a:p>
        </p:txBody>
      </p:sp>
      <p:sp>
        <p:nvSpPr>
          <p:cNvPr id="94" name="Google Shape;94;p15"/>
          <p:cNvSpPr/>
          <p:nvPr/>
        </p:nvSpPr>
        <p:spPr>
          <a:xfrm>
            <a:off x="748784" y="3707011"/>
            <a:ext cx="213836" cy="26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Light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Light"/>
                <a:ea typeface="Platypi Light"/>
                <a:cs typeface="Platypi Light"/>
                <a:sym typeface="Platypi Light"/>
              </a:rPr>
              <a:t>03</a:t>
            </a:r>
            <a:endParaRPr sz="1650" b="0" i="0" u="none" strike="noStrike" cap="none"/>
          </a:p>
        </p:txBody>
      </p:sp>
      <p:sp>
        <p:nvSpPr>
          <p:cNvPr id="95" name="Google Shape;95;p15"/>
          <p:cNvSpPr/>
          <p:nvPr/>
        </p:nvSpPr>
        <p:spPr>
          <a:xfrm>
            <a:off x="748784" y="4040148"/>
            <a:ext cx="6459498" cy="3048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748784" y="4400492"/>
            <a:ext cx="2928818" cy="3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 b="0" i="0" u="none" strike="noStrike" cap="none" dirty="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Compare Performance</a:t>
            </a:r>
            <a:endParaRPr sz="2100" b="0" i="0" u="none" strike="noStrike" cap="none" dirty="0"/>
          </a:p>
        </p:txBody>
      </p:sp>
      <p:sp>
        <p:nvSpPr>
          <p:cNvPr id="97" name="Google Shape;97;p15"/>
          <p:cNvSpPr/>
          <p:nvPr/>
        </p:nvSpPr>
        <p:spPr>
          <a:xfrm>
            <a:off x="748784" y="5064564"/>
            <a:ext cx="6459498" cy="684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lang="en-US" sz="16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Analyze metrics, training dynamics, and architectural trade-offs</a:t>
            </a:r>
            <a:endParaRPr sz="1650" b="0" i="0" u="none" strike="noStrike" cap="none" dirty="0"/>
          </a:p>
        </p:txBody>
      </p:sp>
      <p:sp>
        <p:nvSpPr>
          <p:cNvPr id="98" name="Google Shape;98;p15"/>
          <p:cNvSpPr/>
          <p:nvPr/>
        </p:nvSpPr>
        <p:spPr>
          <a:xfrm>
            <a:off x="7422118" y="3707011"/>
            <a:ext cx="213836" cy="26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Light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Light"/>
                <a:ea typeface="Platypi Light"/>
                <a:cs typeface="Platypi Light"/>
                <a:sym typeface="Platypi Light"/>
              </a:rPr>
              <a:t>04</a:t>
            </a:r>
            <a:endParaRPr sz="1650" b="0" i="0" u="none" strike="noStrike" cap="none"/>
          </a:p>
        </p:txBody>
      </p:sp>
      <p:sp>
        <p:nvSpPr>
          <p:cNvPr id="99" name="Google Shape;99;p15"/>
          <p:cNvSpPr/>
          <p:nvPr/>
        </p:nvSpPr>
        <p:spPr>
          <a:xfrm>
            <a:off x="7422118" y="4040148"/>
            <a:ext cx="6459498" cy="3048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7422118" y="4419590"/>
            <a:ext cx="2674382" cy="3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 b="0" i="0" u="none" strike="noStrike" cap="none" dirty="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Error Analysis</a:t>
            </a:r>
            <a:endParaRPr sz="2100" b="0" i="0" u="none" strike="noStrike" cap="none" dirty="0"/>
          </a:p>
        </p:txBody>
      </p:sp>
      <p:sp>
        <p:nvSpPr>
          <p:cNvPr id="101" name="Google Shape;101;p15"/>
          <p:cNvSpPr/>
          <p:nvPr/>
        </p:nvSpPr>
        <p:spPr>
          <a:xfrm>
            <a:off x="7422118" y="4670584"/>
            <a:ext cx="6459498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Identify failure cases and confusion patterns between classes</a:t>
            </a:r>
            <a:endParaRPr sz="1650" b="0" i="0" u="none" strike="noStrike" cap="none"/>
          </a:p>
        </p:txBody>
      </p:sp>
      <p:sp>
        <p:nvSpPr>
          <p:cNvPr id="102" name="Google Shape;102;p15"/>
          <p:cNvSpPr/>
          <p:nvPr/>
        </p:nvSpPr>
        <p:spPr>
          <a:xfrm>
            <a:off x="748784" y="5863114"/>
            <a:ext cx="4199334" cy="70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550"/>
              <a:buFont typeface="Platypi Medium"/>
              <a:buNone/>
            </a:pPr>
            <a:r>
              <a:rPr lang="en-US" sz="55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85%</a:t>
            </a:r>
            <a:endParaRPr sz="5550" b="0" i="0" u="none" strike="noStrike" cap="none"/>
          </a:p>
        </p:txBody>
      </p:sp>
      <p:sp>
        <p:nvSpPr>
          <p:cNvPr id="103" name="Google Shape;103;p15"/>
          <p:cNvSpPr/>
          <p:nvPr/>
        </p:nvSpPr>
        <p:spPr>
          <a:xfrm>
            <a:off x="1511260" y="6836331"/>
            <a:ext cx="2674382" cy="3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Target Accuracy</a:t>
            </a:r>
            <a:endParaRPr sz="2100" b="0" i="0" u="none" strike="noStrike" cap="none"/>
          </a:p>
        </p:txBody>
      </p:sp>
      <p:sp>
        <p:nvSpPr>
          <p:cNvPr id="104" name="Google Shape;104;p15"/>
          <p:cNvSpPr/>
          <p:nvPr/>
        </p:nvSpPr>
        <p:spPr>
          <a:xfrm>
            <a:off x="748784" y="7298888"/>
            <a:ext cx="4199334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Minimum threshold for both models</a:t>
            </a:r>
            <a:endParaRPr sz="1650" b="0" i="0" u="none" strike="noStrike" cap="none"/>
          </a:p>
        </p:txBody>
      </p:sp>
      <p:sp>
        <p:nvSpPr>
          <p:cNvPr id="105" name="Google Shape;105;p15"/>
          <p:cNvSpPr/>
          <p:nvPr/>
        </p:nvSpPr>
        <p:spPr>
          <a:xfrm>
            <a:off x="5215533" y="5863114"/>
            <a:ext cx="4199334" cy="70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550"/>
              <a:buFont typeface="Platypi Medium"/>
              <a:buNone/>
            </a:pPr>
            <a:r>
              <a:rPr lang="en-US" sz="55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10</a:t>
            </a:r>
            <a:endParaRPr sz="5550" b="0" i="0" u="none" strike="noStrike" cap="none"/>
          </a:p>
        </p:txBody>
      </p:sp>
      <p:sp>
        <p:nvSpPr>
          <p:cNvPr id="106" name="Google Shape;106;p15"/>
          <p:cNvSpPr/>
          <p:nvPr/>
        </p:nvSpPr>
        <p:spPr>
          <a:xfrm>
            <a:off x="5978009" y="6836331"/>
            <a:ext cx="2674382" cy="3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Classes</a:t>
            </a:r>
            <a:endParaRPr sz="2100" b="0" i="0" u="none" strike="noStrike" cap="none"/>
          </a:p>
        </p:txBody>
      </p:sp>
      <p:sp>
        <p:nvSpPr>
          <p:cNvPr id="107" name="Google Shape;107;p15"/>
          <p:cNvSpPr/>
          <p:nvPr/>
        </p:nvSpPr>
        <p:spPr>
          <a:xfrm>
            <a:off x="5215533" y="7298888"/>
            <a:ext cx="4199334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Clothing categories to classify</a:t>
            </a:r>
            <a:endParaRPr sz="1650" b="0" i="0" u="none" strike="noStrike" cap="none"/>
          </a:p>
        </p:txBody>
      </p:sp>
      <p:sp>
        <p:nvSpPr>
          <p:cNvPr id="108" name="Google Shape;108;p15"/>
          <p:cNvSpPr/>
          <p:nvPr/>
        </p:nvSpPr>
        <p:spPr>
          <a:xfrm>
            <a:off x="9682282" y="5863114"/>
            <a:ext cx="4199334" cy="70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550"/>
              <a:buFont typeface="Platypi Medium"/>
              <a:buNone/>
            </a:pPr>
            <a:r>
              <a:rPr lang="en-US" sz="55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sz="5550" b="0" i="0" u="none" strike="noStrike" cap="none"/>
          </a:p>
        </p:txBody>
      </p:sp>
      <p:sp>
        <p:nvSpPr>
          <p:cNvPr id="109" name="Google Shape;109;p15"/>
          <p:cNvSpPr/>
          <p:nvPr/>
        </p:nvSpPr>
        <p:spPr>
          <a:xfrm>
            <a:off x="10444758" y="6836331"/>
            <a:ext cx="2674382" cy="3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Models</a:t>
            </a:r>
            <a:endParaRPr sz="2100" b="0" i="0" u="none" strike="noStrike" cap="none"/>
          </a:p>
        </p:txBody>
      </p:sp>
      <p:sp>
        <p:nvSpPr>
          <p:cNvPr id="110" name="Google Shape;110;p15"/>
          <p:cNvSpPr/>
          <p:nvPr/>
        </p:nvSpPr>
        <p:spPr>
          <a:xfrm>
            <a:off x="9682282" y="7298888"/>
            <a:ext cx="4199334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Source Serif 4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ANN and CNN for comparison</a:t>
            </a:r>
            <a:endParaRPr sz="1650" b="0" i="0" u="none" strike="noStrike" cap="none"/>
          </a:p>
        </p:txBody>
      </p:sp>
      <p:sp>
        <p:nvSpPr>
          <p:cNvPr id="111" name="Google Shape;111;p15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594955" y="467439"/>
            <a:ext cx="5361027" cy="53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300"/>
              <a:buFont typeface="Platypi Medium"/>
              <a:buNone/>
            </a:pPr>
            <a:r>
              <a:rPr lang="en-US" sz="33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Methodology &amp; Approach</a:t>
            </a:r>
            <a:endParaRPr sz="3300" b="0" i="0" u="none" strike="noStrike" cap="none"/>
          </a:p>
        </p:txBody>
      </p:sp>
      <p:sp>
        <p:nvSpPr>
          <p:cNvPr id="118" name="Google Shape;118;p16"/>
          <p:cNvSpPr/>
          <p:nvPr/>
        </p:nvSpPr>
        <p:spPr>
          <a:xfrm>
            <a:off x="594955" y="1466017"/>
            <a:ext cx="13440489" cy="22860"/>
          </a:xfrm>
          <a:prstGeom prst="roundRect">
            <a:avLst>
              <a:gd name="adj" fmla="val 111562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842611" y="1466017"/>
            <a:ext cx="22860" cy="339923"/>
          </a:xfrm>
          <a:prstGeom prst="roundRect">
            <a:avLst>
              <a:gd name="adj" fmla="val 111562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1790343" y="1402318"/>
            <a:ext cx="127397" cy="127397"/>
          </a:xfrm>
          <a:prstGeom prst="roundRect">
            <a:avLst>
              <a:gd name="adj" fmla="val 358878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91408" y="1976080"/>
            <a:ext cx="2125147" cy="26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Loading</a:t>
            </a:r>
            <a:endParaRPr sz="1650" b="0" i="0" u="none" strike="noStrike" cap="none"/>
          </a:p>
        </p:txBody>
      </p:sp>
      <p:sp>
        <p:nvSpPr>
          <p:cNvPr id="122" name="Google Shape;122;p16"/>
          <p:cNvSpPr/>
          <p:nvPr/>
        </p:nvSpPr>
        <p:spPr>
          <a:xfrm>
            <a:off x="764858" y="2343626"/>
            <a:ext cx="2178368" cy="54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None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Fashion-MNIST dataset with 70K images</a:t>
            </a:r>
            <a:endParaRPr sz="1300" b="0" i="0" u="none" strike="noStrike" cap="none"/>
          </a:p>
        </p:txBody>
      </p:sp>
      <p:sp>
        <p:nvSpPr>
          <p:cNvPr id="123" name="Google Shape;123;p16"/>
          <p:cNvSpPr/>
          <p:nvPr/>
        </p:nvSpPr>
        <p:spPr>
          <a:xfrm>
            <a:off x="4573191" y="1466017"/>
            <a:ext cx="22860" cy="339923"/>
          </a:xfrm>
          <a:prstGeom prst="roundRect">
            <a:avLst>
              <a:gd name="adj" fmla="val 111562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4520922" y="1402318"/>
            <a:ext cx="127397" cy="127397"/>
          </a:xfrm>
          <a:prstGeom prst="roundRect">
            <a:avLst>
              <a:gd name="adj" fmla="val 358878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3521988" y="1976080"/>
            <a:ext cx="2125147" cy="26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Preprocessing</a:t>
            </a:r>
            <a:endParaRPr sz="1650" b="0" i="0" u="none" strike="noStrike" cap="none"/>
          </a:p>
        </p:txBody>
      </p:sp>
      <p:sp>
        <p:nvSpPr>
          <p:cNvPr id="126" name="Google Shape;126;p16"/>
          <p:cNvSpPr/>
          <p:nvPr/>
        </p:nvSpPr>
        <p:spPr>
          <a:xfrm>
            <a:off x="3495437" y="2343626"/>
            <a:ext cx="2178368" cy="54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None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Normalize pixels [0,255] → [0,1]</a:t>
            </a:r>
            <a:endParaRPr sz="1300" b="0" i="0" u="none" strike="noStrike" cap="none"/>
          </a:p>
        </p:txBody>
      </p:sp>
      <p:sp>
        <p:nvSpPr>
          <p:cNvPr id="127" name="Google Shape;127;p16"/>
          <p:cNvSpPr/>
          <p:nvPr/>
        </p:nvSpPr>
        <p:spPr>
          <a:xfrm>
            <a:off x="7303770" y="1466017"/>
            <a:ext cx="22860" cy="339923"/>
          </a:xfrm>
          <a:prstGeom prst="roundRect">
            <a:avLst>
              <a:gd name="adj" fmla="val 111562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251502" y="1402318"/>
            <a:ext cx="127397" cy="127397"/>
          </a:xfrm>
          <a:prstGeom prst="roundRect">
            <a:avLst>
              <a:gd name="adj" fmla="val 358878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252567" y="1976080"/>
            <a:ext cx="2125147" cy="26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Split Data</a:t>
            </a:r>
            <a:endParaRPr sz="1650" b="0" i="0" u="none" strike="noStrike" cap="none"/>
          </a:p>
        </p:txBody>
      </p:sp>
      <p:sp>
        <p:nvSpPr>
          <p:cNvPr id="130" name="Google Shape;130;p16"/>
          <p:cNvSpPr/>
          <p:nvPr/>
        </p:nvSpPr>
        <p:spPr>
          <a:xfrm>
            <a:off x="6226016" y="2343626"/>
            <a:ext cx="2178368" cy="54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None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48K train / 12K val / 10K test</a:t>
            </a:r>
            <a:endParaRPr sz="1300" b="0" i="0" u="none" strike="noStrike" cap="none"/>
          </a:p>
        </p:txBody>
      </p:sp>
      <p:sp>
        <p:nvSpPr>
          <p:cNvPr id="131" name="Google Shape;131;p16"/>
          <p:cNvSpPr/>
          <p:nvPr/>
        </p:nvSpPr>
        <p:spPr>
          <a:xfrm>
            <a:off x="10034349" y="1466017"/>
            <a:ext cx="22860" cy="339923"/>
          </a:xfrm>
          <a:prstGeom prst="roundRect">
            <a:avLst>
              <a:gd name="adj" fmla="val 111562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9982081" y="1402318"/>
            <a:ext cx="127397" cy="127397"/>
          </a:xfrm>
          <a:prstGeom prst="roundRect">
            <a:avLst>
              <a:gd name="adj" fmla="val 358878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8983147" y="1976080"/>
            <a:ext cx="2125147" cy="26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 Models</a:t>
            </a:r>
            <a:endParaRPr sz="1650" b="0" i="0" u="none" strike="noStrike" cap="none"/>
          </a:p>
        </p:txBody>
      </p:sp>
      <p:sp>
        <p:nvSpPr>
          <p:cNvPr id="134" name="Google Shape;134;p16"/>
          <p:cNvSpPr/>
          <p:nvPr/>
        </p:nvSpPr>
        <p:spPr>
          <a:xfrm>
            <a:off x="8956596" y="2343626"/>
            <a:ext cx="2178368" cy="54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None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ANN and CNN with callbacks</a:t>
            </a:r>
            <a:endParaRPr sz="1300" b="0" i="0" u="none" strike="noStrike" cap="none"/>
          </a:p>
        </p:txBody>
      </p:sp>
      <p:sp>
        <p:nvSpPr>
          <p:cNvPr id="135" name="Google Shape;135;p16"/>
          <p:cNvSpPr/>
          <p:nvPr/>
        </p:nvSpPr>
        <p:spPr>
          <a:xfrm>
            <a:off x="12764929" y="1466017"/>
            <a:ext cx="22860" cy="339923"/>
          </a:xfrm>
          <a:prstGeom prst="roundRect">
            <a:avLst>
              <a:gd name="adj" fmla="val 111562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12712660" y="1402318"/>
            <a:ext cx="127397" cy="127397"/>
          </a:xfrm>
          <a:prstGeom prst="roundRect">
            <a:avLst>
              <a:gd name="adj" fmla="val 358878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11713726" y="1976080"/>
            <a:ext cx="2125147" cy="265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Evaluate</a:t>
            </a:r>
            <a:endParaRPr sz="1650" b="0" i="0" u="none" strike="noStrike" cap="none"/>
          </a:p>
        </p:txBody>
      </p:sp>
      <p:sp>
        <p:nvSpPr>
          <p:cNvPr id="138" name="Google Shape;138;p16"/>
          <p:cNvSpPr/>
          <p:nvPr/>
        </p:nvSpPr>
        <p:spPr>
          <a:xfrm>
            <a:off x="11687175" y="2343626"/>
            <a:ext cx="2178368" cy="54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None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Compare performance metrics</a:t>
            </a:r>
            <a:endParaRPr sz="1300" b="0" i="0" u="none" strike="noStrike" cap="none"/>
          </a:p>
        </p:txBody>
      </p:sp>
      <p:sp>
        <p:nvSpPr>
          <p:cNvPr id="139" name="Google Shape;139;p16"/>
          <p:cNvSpPr/>
          <p:nvPr/>
        </p:nvSpPr>
        <p:spPr>
          <a:xfrm>
            <a:off x="594955" y="3248620"/>
            <a:ext cx="2550200" cy="318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000"/>
              <a:buFont typeface="Platypi Medium"/>
              <a:buNone/>
            </a:pPr>
            <a:r>
              <a:rPr lang="en-US" sz="20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Training Strategy</a:t>
            </a:r>
            <a:endParaRPr sz="2000" b="0" i="0" u="none" strike="noStrike" cap="none"/>
          </a:p>
        </p:txBody>
      </p:sp>
      <p:sp>
        <p:nvSpPr>
          <p:cNvPr id="140" name="Google Shape;140;p16"/>
          <p:cNvSpPr/>
          <p:nvPr/>
        </p:nvSpPr>
        <p:spPr>
          <a:xfrm>
            <a:off x="594955" y="3737253"/>
            <a:ext cx="6512838" cy="27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Char char="•"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Optimizer: Adam (learning rate 0.001)</a:t>
            </a:r>
            <a:endParaRPr sz="1300" b="0" i="0" u="none" strike="noStrike" cap="none"/>
          </a:p>
        </p:txBody>
      </p:sp>
      <p:sp>
        <p:nvSpPr>
          <p:cNvPr id="141" name="Google Shape;141;p16"/>
          <p:cNvSpPr/>
          <p:nvPr/>
        </p:nvSpPr>
        <p:spPr>
          <a:xfrm>
            <a:off x="594955" y="4068604"/>
            <a:ext cx="6512838" cy="27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Char char="•"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Loss: Sparse Categorical Crossentropy</a:t>
            </a:r>
            <a:endParaRPr sz="1300" b="0" i="0" u="none" strike="noStrike" cap="none"/>
          </a:p>
        </p:txBody>
      </p:sp>
      <p:sp>
        <p:nvSpPr>
          <p:cNvPr id="142" name="Google Shape;142;p16"/>
          <p:cNvSpPr/>
          <p:nvPr/>
        </p:nvSpPr>
        <p:spPr>
          <a:xfrm>
            <a:off x="594955" y="4399955"/>
            <a:ext cx="6512838" cy="27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Char char="•"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Regularization: Dropout, Early Stopping, LR Reduction</a:t>
            </a:r>
            <a:endParaRPr sz="1300" b="0" i="0" u="none" strike="noStrike" cap="none"/>
          </a:p>
        </p:txBody>
      </p:sp>
      <p:sp>
        <p:nvSpPr>
          <p:cNvPr id="143" name="Google Shape;143;p16"/>
          <p:cNvSpPr/>
          <p:nvPr/>
        </p:nvSpPr>
        <p:spPr>
          <a:xfrm>
            <a:off x="594955" y="4731306"/>
            <a:ext cx="6512838" cy="27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Source Serif 4"/>
              <a:buChar char="•"/>
            </a:pPr>
            <a:r>
              <a:rPr lang="en-US" sz="13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CNN Enhancement: Data augmentation (rotation, shift, zoom)</a:t>
            </a:r>
            <a:endParaRPr sz="1300" b="0" i="0" u="none" strike="noStrike" cap="none"/>
          </a:p>
        </p:txBody>
      </p:sp>
      <p:pic>
        <p:nvPicPr>
          <p:cNvPr id="144" name="Google Shape;14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0227" y="3269933"/>
            <a:ext cx="3712012" cy="387893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/>
          <p:nvPr/>
        </p:nvSpPr>
        <p:spPr>
          <a:xfrm>
            <a:off x="7530227" y="7340084"/>
            <a:ext cx="6512838" cy="27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endParaRPr sz="1300" b="0" i="0" u="none" strike="noStrike" cap="none"/>
          </a:p>
        </p:txBody>
      </p:sp>
      <p:sp>
        <p:nvSpPr>
          <p:cNvPr id="146" name="Google Shape;146;p16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650438" y="511135"/>
            <a:ext cx="4646771" cy="580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650"/>
              <a:buFont typeface="Platypi Medium"/>
              <a:buNone/>
            </a:pPr>
            <a:r>
              <a:rPr lang="en-US" sz="365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Preparation</a:t>
            </a:r>
            <a:endParaRPr sz="3650" b="0" i="0" u="none" strike="noStrike" cap="none"/>
          </a:p>
        </p:txBody>
      </p:sp>
      <p:sp>
        <p:nvSpPr>
          <p:cNvPr id="153" name="Google Shape;153;p17"/>
          <p:cNvSpPr/>
          <p:nvPr/>
        </p:nvSpPr>
        <p:spPr>
          <a:xfrm>
            <a:off x="650438" y="1463635"/>
            <a:ext cx="4319230" cy="2111454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836295" y="1649492"/>
            <a:ext cx="557570" cy="557570"/>
          </a:xfrm>
          <a:prstGeom prst="roundRect">
            <a:avLst>
              <a:gd name="adj" fmla="val 16398095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9648" y="1802725"/>
            <a:ext cx="250865" cy="25086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836295" y="2392918"/>
            <a:ext cx="232338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Platypi Medium"/>
              <a:buNone/>
            </a:pPr>
            <a:r>
              <a:rPr lang="en-US" sz="18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Dataset Split</a:t>
            </a:r>
            <a:endParaRPr sz="1800" b="0" i="0" u="none" strike="noStrike" cap="none"/>
          </a:p>
        </p:txBody>
      </p:sp>
      <p:sp>
        <p:nvSpPr>
          <p:cNvPr id="157" name="Google Shape;157;p17"/>
          <p:cNvSpPr/>
          <p:nvPr/>
        </p:nvSpPr>
        <p:spPr>
          <a:xfrm>
            <a:off x="836295" y="2794635"/>
            <a:ext cx="3947517" cy="59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48,000 training samples with stratified distribution across all 10 classes</a:t>
            </a:r>
            <a:endParaRPr sz="1450" b="0" i="0" u="none" strike="noStrike" cap="none"/>
          </a:p>
        </p:txBody>
      </p:sp>
      <p:sp>
        <p:nvSpPr>
          <p:cNvPr id="158" name="Google Shape;158;p17"/>
          <p:cNvSpPr/>
          <p:nvPr/>
        </p:nvSpPr>
        <p:spPr>
          <a:xfrm>
            <a:off x="5155525" y="1463635"/>
            <a:ext cx="4319230" cy="2111454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341382" y="1649492"/>
            <a:ext cx="557570" cy="557570"/>
          </a:xfrm>
          <a:prstGeom prst="roundRect">
            <a:avLst>
              <a:gd name="adj" fmla="val 16398095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4734" y="1802725"/>
            <a:ext cx="250865" cy="25086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/>
          <p:nvPr/>
        </p:nvSpPr>
        <p:spPr>
          <a:xfrm>
            <a:off x="5341382" y="2392918"/>
            <a:ext cx="232338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Platypi Medium"/>
              <a:buNone/>
            </a:pPr>
            <a:r>
              <a:rPr lang="en-US" sz="18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Validation Set</a:t>
            </a:r>
            <a:endParaRPr sz="1800" b="0" i="0" u="none" strike="noStrike" cap="none"/>
          </a:p>
        </p:txBody>
      </p:sp>
      <p:sp>
        <p:nvSpPr>
          <p:cNvPr id="162" name="Google Shape;162;p17"/>
          <p:cNvSpPr/>
          <p:nvPr/>
        </p:nvSpPr>
        <p:spPr>
          <a:xfrm>
            <a:off x="5341382" y="2794635"/>
            <a:ext cx="3947517" cy="59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12,000 samples for monitoring training and preventing overfitting</a:t>
            </a:r>
            <a:endParaRPr sz="1450" b="0" i="0" u="none" strike="noStrike" cap="none"/>
          </a:p>
        </p:txBody>
      </p:sp>
      <p:sp>
        <p:nvSpPr>
          <p:cNvPr id="163" name="Google Shape;163;p17"/>
          <p:cNvSpPr/>
          <p:nvPr/>
        </p:nvSpPr>
        <p:spPr>
          <a:xfrm>
            <a:off x="9660612" y="1463635"/>
            <a:ext cx="4319230" cy="2111454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9846469" y="1649492"/>
            <a:ext cx="557570" cy="557570"/>
          </a:xfrm>
          <a:prstGeom prst="roundRect">
            <a:avLst>
              <a:gd name="adj" fmla="val 16398095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5" name="Google Shape;16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9821" y="1802725"/>
            <a:ext cx="250865" cy="25086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/>
          <p:nvPr/>
        </p:nvSpPr>
        <p:spPr>
          <a:xfrm>
            <a:off x="9846469" y="2392918"/>
            <a:ext cx="232338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Platypi Medium"/>
              <a:buNone/>
            </a:pPr>
            <a:r>
              <a:rPr lang="en-US" sz="18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 Set</a:t>
            </a:r>
            <a:endParaRPr sz="1800" b="0" i="0" u="none" strike="noStrike" cap="none"/>
          </a:p>
        </p:txBody>
      </p:sp>
      <p:sp>
        <p:nvSpPr>
          <p:cNvPr id="167" name="Google Shape;167;p17"/>
          <p:cNvSpPr/>
          <p:nvPr/>
        </p:nvSpPr>
        <p:spPr>
          <a:xfrm>
            <a:off x="9846469" y="2794635"/>
            <a:ext cx="3947517" cy="59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10,000 samples for final evaluation and performance comparison</a:t>
            </a:r>
            <a:endParaRPr sz="1450" b="0" i="0" u="none" strike="noStrike" cap="none"/>
          </a:p>
        </p:txBody>
      </p:sp>
      <p:sp>
        <p:nvSpPr>
          <p:cNvPr id="168" name="Google Shape;168;p17"/>
          <p:cNvSpPr/>
          <p:nvPr/>
        </p:nvSpPr>
        <p:spPr>
          <a:xfrm>
            <a:off x="650438" y="3818989"/>
            <a:ext cx="3043714" cy="34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150"/>
              <a:buFont typeface="Platypi Medium"/>
              <a:buNone/>
            </a:pPr>
            <a:r>
              <a:rPr lang="en-US" sz="215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Transformations</a:t>
            </a:r>
            <a:endParaRPr sz="2150" b="0" i="0" u="none" strike="noStrike" cap="none" dirty="0"/>
          </a:p>
        </p:txBody>
      </p:sp>
      <p:sp>
        <p:nvSpPr>
          <p:cNvPr id="169" name="Google Shape;169;p17"/>
          <p:cNvSpPr/>
          <p:nvPr/>
        </p:nvSpPr>
        <p:spPr>
          <a:xfrm>
            <a:off x="650438" y="4504373"/>
            <a:ext cx="7816334" cy="29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Data-preprocessing: Normalize pixels [0,255] → [0,1]. </a:t>
            </a:r>
            <a:endParaRPr sz="1450" b="0" i="0" u="none" strike="noStrike" cap="none"/>
          </a:p>
        </p:txBody>
      </p:sp>
      <p:sp>
        <p:nvSpPr>
          <p:cNvPr id="170" name="Google Shape;170;p17"/>
          <p:cNvSpPr/>
          <p:nvPr/>
        </p:nvSpPr>
        <p:spPr>
          <a:xfrm>
            <a:off x="650438" y="4968954"/>
            <a:ext cx="7816334" cy="59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ANN Format:</a:t>
            </a: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Images flattened to 784-dimensional vectors, destroying spatial structure but enabling fully-connected processing.</a:t>
            </a:r>
            <a:endParaRPr sz="1450" b="0" i="0" u="none" strike="noStrike" cap="none"/>
          </a:p>
        </p:txBody>
      </p:sp>
      <p:sp>
        <p:nvSpPr>
          <p:cNvPr id="171" name="Google Shape;171;p17"/>
          <p:cNvSpPr/>
          <p:nvPr/>
        </p:nvSpPr>
        <p:spPr>
          <a:xfrm>
            <a:off x="650438" y="5730835"/>
            <a:ext cx="7816334" cy="59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CNN Format:</a:t>
            </a: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Preserved 28×28×1 spatial structure with added channel dimension for convolutional operations.</a:t>
            </a:r>
            <a:endParaRPr sz="1450" b="0" i="0" u="none" strike="noStrike" cap="none"/>
          </a:p>
        </p:txBody>
      </p:sp>
      <p:sp>
        <p:nvSpPr>
          <p:cNvPr id="172" name="Google Shape;172;p17"/>
          <p:cNvSpPr/>
          <p:nvPr/>
        </p:nvSpPr>
        <p:spPr>
          <a:xfrm>
            <a:off x="650438" y="6492716"/>
            <a:ext cx="7816334" cy="59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Augmentation (CNN only):</a:t>
            </a: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Rotation ±10°, width/height shift ±10%, zoom ±10% applied during training to improve generalization.</a:t>
            </a:r>
            <a:endParaRPr sz="1450" b="0" i="0" u="none" strike="noStrike" cap="none"/>
          </a:p>
        </p:txBody>
      </p:sp>
      <p:sp>
        <p:nvSpPr>
          <p:cNvPr id="173" name="Google Shape;173;p17"/>
          <p:cNvSpPr/>
          <p:nvPr/>
        </p:nvSpPr>
        <p:spPr>
          <a:xfrm>
            <a:off x="650438" y="7254597"/>
            <a:ext cx="7816334" cy="29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Dataset Link: </a:t>
            </a:r>
            <a:r>
              <a:rPr lang="en-US" sz="1450" b="0" i="0" u="sng" strike="noStrike" cap="none">
                <a:solidFill>
                  <a:schemeClr val="hlink"/>
                </a:solidFill>
                <a:latin typeface="Source Serif 4"/>
                <a:ea typeface="Source Serif 4"/>
                <a:cs typeface="Source Serif 4"/>
                <a:sym typeface="Source Serif 4"/>
                <a:hlinkClick r:id="rId4"/>
              </a:rPr>
              <a:t>https://github.com/zalandoresearch/fashion-mnist</a:t>
            </a:r>
            <a:endParaRPr sz="1450" b="0" i="0" u="none" strike="noStrike" cap="none"/>
          </a:p>
        </p:txBody>
      </p:sp>
      <p:pic>
        <p:nvPicPr>
          <p:cNvPr id="174" name="Google Shape;174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27783" y="3993237"/>
            <a:ext cx="4006572" cy="1732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/>
          <p:nvPr/>
        </p:nvSpPr>
        <p:spPr>
          <a:xfrm>
            <a:off x="8927783" y="5934432"/>
            <a:ext cx="5059680" cy="29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/>
              <a:buNone/>
            </a:pPr>
            <a:endParaRPr sz="1450" b="0" i="0" u="none" strike="noStrike" cap="none"/>
          </a:p>
        </p:txBody>
      </p:sp>
      <p:sp>
        <p:nvSpPr>
          <p:cNvPr id="176" name="Google Shape;176;p17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554533" y="159209"/>
            <a:ext cx="3536752" cy="44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750"/>
              <a:buFont typeface="Platypi Medium"/>
              <a:buNone/>
            </a:pPr>
            <a:r>
              <a:rPr lang="en-US" sz="275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Model Architectures</a:t>
            </a:r>
            <a:endParaRPr sz="2750" b="0" i="0" u="none" strike="noStrike" cap="none" dirty="0"/>
          </a:p>
        </p:txBody>
      </p:sp>
      <p:sp>
        <p:nvSpPr>
          <p:cNvPr id="183" name="Google Shape;183;p18"/>
          <p:cNvSpPr/>
          <p:nvPr/>
        </p:nvSpPr>
        <p:spPr>
          <a:xfrm>
            <a:off x="962896" y="1091089"/>
            <a:ext cx="3051691" cy="26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650"/>
              <a:buFont typeface="Platypi Medium"/>
              <a:buNone/>
            </a:pPr>
            <a:r>
              <a:rPr lang="en-US" sz="165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ANN (Multi-Layer Perceptron)</a:t>
            </a:r>
            <a:endParaRPr sz="1650" b="0" i="0" u="none" strike="noStrike" cap="none" dirty="0"/>
          </a:p>
        </p:txBody>
      </p:sp>
      <p:pic>
        <p:nvPicPr>
          <p:cNvPr id="184" name="Google Shape;184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062" y="1610797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1060847" y="1752243"/>
            <a:ext cx="1768316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 Layer</a:t>
            </a:r>
            <a:endParaRPr sz="1350" b="0" i="0" u="none" strike="noStrike" cap="none"/>
          </a:p>
        </p:txBody>
      </p:sp>
      <p:sp>
        <p:nvSpPr>
          <p:cNvPr id="186" name="Google Shape;186;p18"/>
          <p:cNvSpPr/>
          <p:nvPr/>
        </p:nvSpPr>
        <p:spPr>
          <a:xfrm>
            <a:off x="1060847" y="2114669"/>
            <a:ext cx="6081832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784 neurons (flattened 28×28)</a:t>
            </a:r>
            <a:endParaRPr sz="1100" b="0" i="0" u="none" strike="noStrike" cap="none"/>
          </a:p>
        </p:txBody>
      </p:sp>
      <p:pic>
        <p:nvPicPr>
          <p:cNvPr id="187" name="Google Shape;187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231" y="2623780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/>
          <p:nvPr/>
        </p:nvSpPr>
        <p:spPr>
          <a:xfrm>
            <a:off x="1273016" y="2765227"/>
            <a:ext cx="2099786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Dense 512 + Dropout 0.3</a:t>
            </a:r>
            <a:endParaRPr sz="1350" b="0" i="0" u="none" strike="noStrike" cap="none"/>
          </a:p>
        </p:txBody>
      </p:sp>
      <p:sp>
        <p:nvSpPr>
          <p:cNvPr id="189" name="Google Shape;189;p18"/>
          <p:cNvSpPr/>
          <p:nvPr/>
        </p:nvSpPr>
        <p:spPr>
          <a:xfrm>
            <a:off x="1273016" y="3127653"/>
            <a:ext cx="5869662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ReLU activation</a:t>
            </a:r>
            <a:endParaRPr sz="1100" b="0" i="0" u="none" strike="noStrike" cap="none"/>
          </a:p>
        </p:txBody>
      </p:sp>
      <p:pic>
        <p:nvPicPr>
          <p:cNvPr id="190" name="Google Shape;190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401" y="3636764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1485186" y="3778210"/>
            <a:ext cx="2146221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Dense 256 + Dropout 0.3</a:t>
            </a:r>
            <a:endParaRPr sz="1350" b="0" i="0" u="none" strike="noStrike" cap="none"/>
          </a:p>
        </p:txBody>
      </p:sp>
      <p:sp>
        <p:nvSpPr>
          <p:cNvPr id="192" name="Google Shape;192;p18"/>
          <p:cNvSpPr/>
          <p:nvPr/>
        </p:nvSpPr>
        <p:spPr>
          <a:xfrm>
            <a:off x="1485186" y="4140637"/>
            <a:ext cx="5657493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ReLU activation</a:t>
            </a:r>
            <a:endParaRPr sz="1100" b="0" i="0" u="none" strike="noStrike" cap="none"/>
          </a:p>
        </p:txBody>
      </p:sp>
      <p:pic>
        <p:nvPicPr>
          <p:cNvPr id="193" name="Google Shape;19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689" y="4649748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/>
          <p:nvPr/>
        </p:nvSpPr>
        <p:spPr>
          <a:xfrm>
            <a:off x="1697474" y="4791194"/>
            <a:ext cx="2107763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Dense 128 + Dropout 0.2</a:t>
            </a:r>
            <a:endParaRPr sz="1350" b="0" i="0" u="none" strike="noStrike" cap="none"/>
          </a:p>
        </p:txBody>
      </p:sp>
      <p:sp>
        <p:nvSpPr>
          <p:cNvPr id="195" name="Google Shape;195;p18"/>
          <p:cNvSpPr/>
          <p:nvPr/>
        </p:nvSpPr>
        <p:spPr>
          <a:xfrm>
            <a:off x="1697474" y="5153620"/>
            <a:ext cx="5445204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ReLU activation</a:t>
            </a:r>
            <a:endParaRPr sz="1100" b="0" i="0" u="none" strike="noStrike" cap="none"/>
          </a:p>
        </p:txBody>
      </p:sp>
      <p:pic>
        <p:nvPicPr>
          <p:cNvPr id="196" name="Google Shape;196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401" y="5662732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/>
          <p:nvPr/>
        </p:nvSpPr>
        <p:spPr>
          <a:xfrm>
            <a:off x="1485186" y="5804178"/>
            <a:ext cx="1768316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Output Layer</a:t>
            </a:r>
            <a:endParaRPr sz="1350" b="0" i="0" u="none" strike="noStrike" cap="none"/>
          </a:p>
        </p:txBody>
      </p:sp>
      <p:sp>
        <p:nvSpPr>
          <p:cNvPr id="198" name="Google Shape;198;p18"/>
          <p:cNvSpPr/>
          <p:nvPr/>
        </p:nvSpPr>
        <p:spPr>
          <a:xfrm>
            <a:off x="1485186" y="6166604"/>
            <a:ext cx="5657493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10 neurons, Softmax</a:t>
            </a:r>
            <a:endParaRPr sz="1100" b="0" i="0" u="none" strike="noStrike" cap="none"/>
          </a:p>
        </p:txBody>
      </p:sp>
      <p:sp>
        <p:nvSpPr>
          <p:cNvPr id="199" name="Google Shape;199;p18"/>
          <p:cNvSpPr/>
          <p:nvPr/>
        </p:nvSpPr>
        <p:spPr>
          <a:xfrm>
            <a:off x="495062" y="6693337"/>
            <a:ext cx="6647617" cy="601028"/>
          </a:xfrm>
          <a:prstGeom prst="roundRect">
            <a:avLst>
              <a:gd name="adj" fmla="val 3531"/>
            </a:avLst>
          </a:prstGeom>
          <a:solidFill>
            <a:srgbClr val="EDD5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508" y="6906339"/>
            <a:ext cx="176808" cy="14144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954762" y="6870144"/>
            <a:ext cx="6046470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erif 4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Parameters:</a:t>
            </a:r>
            <a:r>
              <a:rPr lang="en-US" sz="11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567,434 total trainable parameters</a:t>
            </a:r>
            <a:endParaRPr sz="1100" b="0" i="0" u="none" strike="noStrike" cap="none"/>
          </a:p>
        </p:txBody>
      </p:sp>
      <p:sp>
        <p:nvSpPr>
          <p:cNvPr id="202" name="Google Shape;202;p18"/>
          <p:cNvSpPr/>
          <p:nvPr/>
        </p:nvSpPr>
        <p:spPr>
          <a:xfrm>
            <a:off x="7495342" y="942261"/>
            <a:ext cx="3040023" cy="26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650"/>
              <a:buFont typeface="Platypi Medium"/>
              <a:buNone/>
            </a:pPr>
            <a:r>
              <a:rPr lang="en-US" sz="165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CNN (Convolutional Network)</a:t>
            </a:r>
            <a:endParaRPr sz="1650" b="0" i="0" u="none" strike="noStrike" cap="none" dirty="0"/>
          </a:p>
        </p:txBody>
      </p:sp>
      <p:pic>
        <p:nvPicPr>
          <p:cNvPr id="203" name="Google Shape;20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5342" y="1610797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/>
          <p:nvPr/>
        </p:nvSpPr>
        <p:spPr>
          <a:xfrm>
            <a:off x="8061127" y="1752243"/>
            <a:ext cx="1768316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</a:t>
            </a:r>
            <a:endParaRPr sz="1350" b="0" i="0" u="none" strike="noStrike" cap="none"/>
          </a:p>
        </p:txBody>
      </p:sp>
      <p:sp>
        <p:nvSpPr>
          <p:cNvPr id="205" name="Google Shape;205;p18"/>
          <p:cNvSpPr/>
          <p:nvPr/>
        </p:nvSpPr>
        <p:spPr>
          <a:xfrm>
            <a:off x="8061127" y="2114669"/>
            <a:ext cx="6081832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28×28×1 images</a:t>
            </a:r>
            <a:endParaRPr sz="1100" b="0" i="0" u="none" strike="noStrike" cap="none"/>
          </a:p>
        </p:txBody>
      </p:sp>
      <p:pic>
        <p:nvPicPr>
          <p:cNvPr id="206" name="Google Shape;206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7511" y="2623780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/>
          <p:nvPr/>
        </p:nvSpPr>
        <p:spPr>
          <a:xfrm>
            <a:off x="8273296" y="2765227"/>
            <a:ext cx="1768316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Conv Block 1</a:t>
            </a:r>
            <a:endParaRPr sz="1350" b="0" i="0" u="none" strike="noStrike" cap="none"/>
          </a:p>
        </p:txBody>
      </p:sp>
      <p:sp>
        <p:nvSpPr>
          <p:cNvPr id="208" name="Google Shape;208;p18"/>
          <p:cNvSpPr/>
          <p:nvPr/>
        </p:nvSpPr>
        <p:spPr>
          <a:xfrm>
            <a:off x="8273296" y="3127653"/>
            <a:ext cx="5869662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Conv32→BN→Conv32→BN→MaxPool→Dropout</a:t>
            </a:r>
            <a:endParaRPr sz="1100" b="0" i="0" u="none" strike="noStrike" cap="none"/>
          </a:p>
        </p:txBody>
      </p:sp>
      <p:pic>
        <p:nvPicPr>
          <p:cNvPr id="209" name="Google Shape;209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9680" y="3636764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/>
          <p:nvPr/>
        </p:nvSpPr>
        <p:spPr>
          <a:xfrm>
            <a:off x="8485465" y="3778210"/>
            <a:ext cx="1768316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Conv Block 2</a:t>
            </a:r>
            <a:endParaRPr sz="1350" b="0" i="0" u="none" strike="noStrike" cap="none"/>
          </a:p>
        </p:txBody>
      </p:sp>
      <p:sp>
        <p:nvSpPr>
          <p:cNvPr id="211" name="Google Shape;211;p18"/>
          <p:cNvSpPr/>
          <p:nvPr/>
        </p:nvSpPr>
        <p:spPr>
          <a:xfrm>
            <a:off x="8485465" y="4140637"/>
            <a:ext cx="5657493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Conv64→BN→Conv64→BN→MaxPool→Dropout</a:t>
            </a:r>
            <a:endParaRPr sz="1100" b="0" i="0" u="none" strike="noStrike" cap="none"/>
          </a:p>
        </p:txBody>
      </p:sp>
      <p:pic>
        <p:nvPicPr>
          <p:cNvPr id="212" name="Google Shape;212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1969" y="4649748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/>
          <p:nvPr/>
        </p:nvSpPr>
        <p:spPr>
          <a:xfrm>
            <a:off x="8697754" y="4791194"/>
            <a:ext cx="1768316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Classifier</a:t>
            </a:r>
            <a:endParaRPr sz="1350" b="0" i="0" u="none" strike="noStrike" cap="none"/>
          </a:p>
        </p:txBody>
      </p:sp>
      <p:sp>
        <p:nvSpPr>
          <p:cNvPr id="214" name="Google Shape;214;p18"/>
          <p:cNvSpPr/>
          <p:nvPr/>
        </p:nvSpPr>
        <p:spPr>
          <a:xfrm>
            <a:off x="8697754" y="5153620"/>
            <a:ext cx="5445204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Flatten→Dense256→BN→Dropout</a:t>
            </a:r>
            <a:endParaRPr sz="1100" b="0" i="0" u="none" strike="noStrike" cap="none"/>
          </a:p>
        </p:txBody>
      </p:sp>
      <p:pic>
        <p:nvPicPr>
          <p:cNvPr id="215" name="Google Shape;215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9680" y="5662732"/>
            <a:ext cx="424339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/>
          <p:nvPr/>
        </p:nvSpPr>
        <p:spPr>
          <a:xfrm>
            <a:off x="8485465" y="5804178"/>
            <a:ext cx="1768316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 Medium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Output</a:t>
            </a:r>
            <a:endParaRPr sz="1350" b="0" i="0" u="none" strike="noStrike" cap="none"/>
          </a:p>
        </p:txBody>
      </p:sp>
      <p:sp>
        <p:nvSpPr>
          <p:cNvPr id="217" name="Google Shape;217;p18"/>
          <p:cNvSpPr/>
          <p:nvPr/>
        </p:nvSpPr>
        <p:spPr>
          <a:xfrm>
            <a:off x="8485465" y="6166604"/>
            <a:ext cx="5657493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10 neurons, Softmax</a:t>
            </a:r>
            <a:endParaRPr sz="1100" b="0" i="0" u="none" strike="noStrike" cap="none"/>
          </a:p>
        </p:txBody>
      </p:sp>
      <p:sp>
        <p:nvSpPr>
          <p:cNvPr id="218" name="Google Shape;218;p18"/>
          <p:cNvSpPr/>
          <p:nvPr/>
        </p:nvSpPr>
        <p:spPr>
          <a:xfrm>
            <a:off x="7495342" y="6693337"/>
            <a:ext cx="6647617" cy="601028"/>
          </a:xfrm>
          <a:prstGeom prst="roundRect">
            <a:avLst>
              <a:gd name="adj" fmla="val 3531"/>
            </a:avLst>
          </a:prstGeom>
          <a:solidFill>
            <a:srgbClr val="EDD5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6788" y="6906339"/>
            <a:ext cx="176808" cy="14144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/>
          <p:nvPr/>
        </p:nvSpPr>
        <p:spPr>
          <a:xfrm>
            <a:off x="7955042" y="6870144"/>
            <a:ext cx="6046470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erif 4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Parameters:</a:t>
            </a:r>
            <a:r>
              <a:rPr lang="en-US" sz="11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872,426 (1.54× more than ANN)</a:t>
            </a:r>
            <a:endParaRPr sz="1100" b="0" i="0" u="none" strike="noStrike" cap="none"/>
          </a:p>
        </p:txBody>
      </p:sp>
      <p:sp>
        <p:nvSpPr>
          <p:cNvPr id="221" name="Google Shape;221;p18"/>
          <p:cNvSpPr/>
          <p:nvPr/>
        </p:nvSpPr>
        <p:spPr>
          <a:xfrm>
            <a:off x="495062" y="7612499"/>
            <a:ext cx="13640276" cy="2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1" i="0" u="none" strike="noStrike" cap="none">
                <a:solidFill>
                  <a:srgbClr val="504C49"/>
                </a:solidFill>
                <a:highlight>
                  <a:srgbClr val="F3E3D8"/>
                </a:highlight>
                <a:latin typeface="Source Serif 4"/>
                <a:ea typeface="Source Serif 4"/>
                <a:cs typeface="Source Serif 4"/>
                <a:sym typeface="Source Serif 4"/>
              </a:rPr>
              <a:t>Key Difference:</a:t>
            </a: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ANN destroys spatial structure; CNN preserves and exploits it through convolutional filters</a:t>
            </a:r>
            <a:endParaRPr sz="1100" b="0" i="0" u="none" strike="noStrike" cap="none"/>
          </a:p>
        </p:txBody>
      </p:sp>
      <p:sp>
        <p:nvSpPr>
          <p:cNvPr id="222" name="Google Shape;222;p18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683657" y="537210"/>
            <a:ext cx="4883706" cy="6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800"/>
              <a:buFont typeface="Platypi Medium"/>
              <a:buNone/>
            </a:pPr>
            <a:r>
              <a:rPr lang="en-US" sz="38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Results &amp; Findings</a:t>
            </a:r>
            <a:endParaRPr sz="3800" b="0" i="0" u="none" strike="noStrike" cap="none"/>
          </a:p>
        </p:txBody>
      </p:sp>
      <p:sp>
        <p:nvSpPr>
          <p:cNvPr id="229" name="Google Shape;229;p19"/>
          <p:cNvSpPr/>
          <p:nvPr/>
        </p:nvSpPr>
        <p:spPr>
          <a:xfrm>
            <a:off x="683657" y="1635919"/>
            <a:ext cx="4258270" cy="64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050"/>
              <a:buFont typeface="Platypi Medium"/>
              <a:buNone/>
            </a:pPr>
            <a:r>
              <a:rPr lang="en-US" sz="50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89%</a:t>
            </a:r>
            <a:endParaRPr sz="5050" b="0" i="0" u="none" strike="noStrike" cap="none"/>
          </a:p>
        </p:txBody>
      </p:sp>
      <p:sp>
        <p:nvSpPr>
          <p:cNvPr id="230" name="Google Shape;230;p19"/>
          <p:cNvSpPr/>
          <p:nvPr/>
        </p:nvSpPr>
        <p:spPr>
          <a:xfrm>
            <a:off x="1591866" y="2524601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lang="en-US" sz="19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ANN Accuracy</a:t>
            </a:r>
            <a:endParaRPr sz="1900" b="0" i="0" u="none" strike="noStrike" cap="none"/>
          </a:p>
        </p:txBody>
      </p:sp>
      <p:sp>
        <p:nvSpPr>
          <p:cNvPr id="231" name="Google Shape;231;p19"/>
          <p:cNvSpPr/>
          <p:nvPr/>
        </p:nvSpPr>
        <p:spPr>
          <a:xfrm>
            <a:off x="683657" y="2946916"/>
            <a:ext cx="425827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 performance</a:t>
            </a:r>
            <a:endParaRPr sz="1500" b="0" i="0" u="none" strike="noStrike" cap="none"/>
          </a:p>
        </p:txBody>
      </p:sp>
      <p:sp>
        <p:nvSpPr>
          <p:cNvPr id="232" name="Google Shape;232;p19"/>
          <p:cNvSpPr/>
          <p:nvPr/>
        </p:nvSpPr>
        <p:spPr>
          <a:xfrm>
            <a:off x="5186005" y="1635919"/>
            <a:ext cx="4258270" cy="64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050"/>
              <a:buFont typeface="Platypi Medium"/>
              <a:buNone/>
            </a:pPr>
            <a:r>
              <a:rPr lang="en-US" sz="50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93%</a:t>
            </a:r>
            <a:endParaRPr sz="5050" b="0" i="0" u="none" strike="noStrike" cap="none"/>
          </a:p>
        </p:txBody>
      </p:sp>
      <p:sp>
        <p:nvSpPr>
          <p:cNvPr id="233" name="Google Shape;233;p19"/>
          <p:cNvSpPr/>
          <p:nvPr/>
        </p:nvSpPr>
        <p:spPr>
          <a:xfrm>
            <a:off x="6094214" y="2524601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lang="en-US" sz="19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CNN Accuracy</a:t>
            </a:r>
            <a:endParaRPr sz="1900" b="0" i="0" u="none" strike="noStrike" cap="none"/>
          </a:p>
        </p:txBody>
      </p:sp>
      <p:sp>
        <p:nvSpPr>
          <p:cNvPr id="234" name="Google Shape;234;p19"/>
          <p:cNvSpPr/>
          <p:nvPr/>
        </p:nvSpPr>
        <p:spPr>
          <a:xfrm>
            <a:off x="5186005" y="2946916"/>
            <a:ext cx="425827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 performance</a:t>
            </a:r>
            <a:endParaRPr sz="1500" b="0" i="0" u="none" strike="noStrike" cap="none"/>
          </a:p>
        </p:txBody>
      </p:sp>
      <p:sp>
        <p:nvSpPr>
          <p:cNvPr id="235" name="Google Shape;235;p19"/>
          <p:cNvSpPr/>
          <p:nvPr/>
        </p:nvSpPr>
        <p:spPr>
          <a:xfrm>
            <a:off x="9688354" y="1635919"/>
            <a:ext cx="4258389" cy="64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050"/>
              <a:buFont typeface="Platypi Medium"/>
              <a:buNone/>
            </a:pPr>
            <a:r>
              <a:rPr lang="en-US" sz="50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+4.2%</a:t>
            </a:r>
            <a:endParaRPr sz="5050" b="0" i="0" u="none" strike="noStrike" cap="none"/>
          </a:p>
        </p:txBody>
      </p:sp>
      <p:sp>
        <p:nvSpPr>
          <p:cNvPr id="236" name="Google Shape;236;p19"/>
          <p:cNvSpPr/>
          <p:nvPr/>
        </p:nvSpPr>
        <p:spPr>
          <a:xfrm>
            <a:off x="10596563" y="2524601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lang="en-US" sz="19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Improvement</a:t>
            </a:r>
            <a:endParaRPr sz="1900" b="0" i="0" u="none" strike="noStrike" cap="none"/>
          </a:p>
        </p:txBody>
      </p:sp>
      <p:sp>
        <p:nvSpPr>
          <p:cNvPr id="237" name="Google Shape;237;p19"/>
          <p:cNvSpPr/>
          <p:nvPr/>
        </p:nvSpPr>
        <p:spPr>
          <a:xfrm>
            <a:off x="9688354" y="2946916"/>
            <a:ext cx="4258389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CNN over ANN</a:t>
            </a:r>
            <a:endParaRPr sz="1500" b="0" i="0" u="none" strike="noStrike" cap="none"/>
          </a:p>
        </p:txBody>
      </p:sp>
      <p:sp>
        <p:nvSpPr>
          <p:cNvPr id="238" name="Google Shape;238;p19"/>
          <p:cNvSpPr/>
          <p:nvPr/>
        </p:nvSpPr>
        <p:spPr>
          <a:xfrm>
            <a:off x="683657" y="3479125"/>
            <a:ext cx="13263086" cy="2825710"/>
          </a:xfrm>
          <a:prstGeom prst="roundRect">
            <a:avLst>
              <a:gd name="adj" fmla="val 1037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691277" y="3486745"/>
            <a:ext cx="13247846" cy="56209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886658" y="3611523"/>
            <a:ext cx="3579971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Metric</a:t>
            </a:r>
            <a:endParaRPr sz="1500" b="0" i="0" u="none" strike="noStrike" cap="none"/>
          </a:p>
        </p:txBody>
      </p:sp>
      <p:sp>
        <p:nvSpPr>
          <p:cNvPr id="241" name="Google Shape;241;p19"/>
          <p:cNvSpPr/>
          <p:nvPr/>
        </p:nvSpPr>
        <p:spPr>
          <a:xfrm>
            <a:off x="4864775" y="3611523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ANN</a:t>
            </a:r>
            <a:endParaRPr sz="1500" b="0" i="0" u="none" strike="noStrike" cap="none"/>
          </a:p>
        </p:txBody>
      </p:sp>
      <p:sp>
        <p:nvSpPr>
          <p:cNvPr id="242" name="Google Shape;242;p19"/>
          <p:cNvSpPr/>
          <p:nvPr/>
        </p:nvSpPr>
        <p:spPr>
          <a:xfrm>
            <a:off x="8176736" y="3611523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CNN</a:t>
            </a:r>
            <a:endParaRPr sz="1500" b="0" i="0" u="none" strike="noStrike" cap="none"/>
          </a:p>
        </p:txBody>
      </p:sp>
      <p:sp>
        <p:nvSpPr>
          <p:cNvPr id="243" name="Google Shape;243;p19"/>
          <p:cNvSpPr/>
          <p:nvPr/>
        </p:nvSpPr>
        <p:spPr>
          <a:xfrm>
            <a:off x="11488698" y="3611523"/>
            <a:ext cx="2255163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Change</a:t>
            </a:r>
            <a:endParaRPr sz="1500" b="0" i="0" u="none" strike="noStrike" cap="none"/>
          </a:p>
        </p:txBody>
      </p:sp>
      <p:sp>
        <p:nvSpPr>
          <p:cNvPr id="244" name="Google Shape;244;p19"/>
          <p:cNvSpPr/>
          <p:nvPr/>
        </p:nvSpPr>
        <p:spPr>
          <a:xfrm>
            <a:off x="691277" y="4048839"/>
            <a:ext cx="13247846" cy="56209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886658" y="4173617"/>
            <a:ext cx="3579971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 Accuracy</a:t>
            </a:r>
            <a:endParaRPr sz="1500" b="0" i="0" u="none" strike="noStrike" cap="none"/>
          </a:p>
        </p:txBody>
      </p:sp>
      <p:sp>
        <p:nvSpPr>
          <p:cNvPr id="246" name="Google Shape;246;p19"/>
          <p:cNvSpPr/>
          <p:nvPr/>
        </p:nvSpPr>
        <p:spPr>
          <a:xfrm>
            <a:off x="4864775" y="4173617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88.98%</a:t>
            </a:r>
            <a:endParaRPr sz="1500" b="0" i="0" u="none" strike="noStrike" cap="none"/>
          </a:p>
        </p:txBody>
      </p:sp>
      <p:sp>
        <p:nvSpPr>
          <p:cNvPr id="247" name="Google Shape;247;p19"/>
          <p:cNvSpPr/>
          <p:nvPr/>
        </p:nvSpPr>
        <p:spPr>
          <a:xfrm>
            <a:off x="8176736" y="4173617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92.67%</a:t>
            </a:r>
            <a:endParaRPr sz="1500" b="0" i="0" u="none" strike="noStrike" cap="none"/>
          </a:p>
        </p:txBody>
      </p:sp>
      <p:sp>
        <p:nvSpPr>
          <p:cNvPr id="248" name="Google Shape;248;p19"/>
          <p:cNvSpPr/>
          <p:nvPr/>
        </p:nvSpPr>
        <p:spPr>
          <a:xfrm>
            <a:off x="11488698" y="4173617"/>
            <a:ext cx="2255163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E2513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3E251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+4.15%</a:t>
            </a:r>
            <a:endParaRPr sz="1500" b="0" i="0" u="none" strike="noStrike" cap="none"/>
          </a:p>
        </p:txBody>
      </p:sp>
      <p:sp>
        <p:nvSpPr>
          <p:cNvPr id="249" name="Google Shape;249;p19"/>
          <p:cNvSpPr/>
          <p:nvPr/>
        </p:nvSpPr>
        <p:spPr>
          <a:xfrm>
            <a:off x="691277" y="4610933"/>
            <a:ext cx="13247846" cy="56209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886658" y="4735711"/>
            <a:ext cx="3579971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 Loss</a:t>
            </a:r>
            <a:endParaRPr sz="1500" b="0" i="0" u="none" strike="noStrike" cap="none"/>
          </a:p>
        </p:txBody>
      </p:sp>
      <p:sp>
        <p:nvSpPr>
          <p:cNvPr id="251" name="Google Shape;251;p19"/>
          <p:cNvSpPr/>
          <p:nvPr/>
        </p:nvSpPr>
        <p:spPr>
          <a:xfrm>
            <a:off x="4864775" y="4735711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0.3168</a:t>
            </a:r>
            <a:endParaRPr sz="1500" b="0" i="0" u="none" strike="noStrike" cap="none"/>
          </a:p>
        </p:txBody>
      </p:sp>
      <p:sp>
        <p:nvSpPr>
          <p:cNvPr id="252" name="Google Shape;252;p19"/>
          <p:cNvSpPr/>
          <p:nvPr/>
        </p:nvSpPr>
        <p:spPr>
          <a:xfrm>
            <a:off x="8176736" y="4735711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0.1979</a:t>
            </a:r>
            <a:endParaRPr sz="1500" b="0" i="0" u="none" strike="noStrike" cap="none"/>
          </a:p>
        </p:txBody>
      </p:sp>
      <p:sp>
        <p:nvSpPr>
          <p:cNvPr id="253" name="Google Shape;253;p19"/>
          <p:cNvSpPr/>
          <p:nvPr/>
        </p:nvSpPr>
        <p:spPr>
          <a:xfrm>
            <a:off x="11488698" y="4735711"/>
            <a:ext cx="2255163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E2513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3E251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-39.6%</a:t>
            </a:r>
            <a:endParaRPr sz="1500" b="0" i="0" u="none" strike="noStrike" cap="none"/>
          </a:p>
        </p:txBody>
      </p:sp>
      <p:sp>
        <p:nvSpPr>
          <p:cNvPr id="254" name="Google Shape;254;p19"/>
          <p:cNvSpPr/>
          <p:nvPr/>
        </p:nvSpPr>
        <p:spPr>
          <a:xfrm>
            <a:off x="691277" y="5173028"/>
            <a:ext cx="13247846" cy="56209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886658" y="5297805"/>
            <a:ext cx="3579971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Training Epochs</a:t>
            </a:r>
            <a:endParaRPr sz="1500" b="0" i="0" u="none" strike="noStrike" cap="none"/>
          </a:p>
        </p:txBody>
      </p:sp>
      <p:sp>
        <p:nvSpPr>
          <p:cNvPr id="256" name="Google Shape;256;p19"/>
          <p:cNvSpPr/>
          <p:nvPr/>
        </p:nvSpPr>
        <p:spPr>
          <a:xfrm>
            <a:off x="4864775" y="5297805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22</a:t>
            </a:r>
            <a:endParaRPr sz="1500" b="0" i="0" u="none" strike="noStrike" cap="none"/>
          </a:p>
        </p:txBody>
      </p:sp>
      <p:sp>
        <p:nvSpPr>
          <p:cNvPr id="257" name="Google Shape;257;p19"/>
          <p:cNvSpPr/>
          <p:nvPr/>
        </p:nvSpPr>
        <p:spPr>
          <a:xfrm>
            <a:off x="8176736" y="5297805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42</a:t>
            </a:r>
            <a:endParaRPr sz="1500" b="0" i="0" u="none" strike="noStrike" cap="none"/>
          </a:p>
        </p:txBody>
      </p:sp>
      <p:sp>
        <p:nvSpPr>
          <p:cNvPr id="258" name="Google Shape;258;p19"/>
          <p:cNvSpPr/>
          <p:nvPr/>
        </p:nvSpPr>
        <p:spPr>
          <a:xfrm>
            <a:off x="11488698" y="5297805"/>
            <a:ext cx="2255163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+91%</a:t>
            </a:r>
            <a:endParaRPr sz="1500" b="0" i="0" u="none" strike="noStrike" cap="none"/>
          </a:p>
        </p:txBody>
      </p:sp>
      <p:sp>
        <p:nvSpPr>
          <p:cNvPr id="259" name="Google Shape;259;p19"/>
          <p:cNvSpPr/>
          <p:nvPr/>
        </p:nvSpPr>
        <p:spPr>
          <a:xfrm>
            <a:off x="691277" y="5735122"/>
            <a:ext cx="13247846" cy="56209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886658" y="5859899"/>
            <a:ext cx="3579971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Inference Speed</a:t>
            </a:r>
            <a:endParaRPr sz="1500" b="0" i="0" u="none" strike="noStrike" cap="none"/>
          </a:p>
        </p:txBody>
      </p:sp>
      <p:sp>
        <p:nvSpPr>
          <p:cNvPr id="261" name="Google Shape;261;p19"/>
          <p:cNvSpPr/>
          <p:nvPr/>
        </p:nvSpPr>
        <p:spPr>
          <a:xfrm>
            <a:off x="4864775" y="5859899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0.126s</a:t>
            </a:r>
            <a:endParaRPr sz="1500" b="0" i="0" u="none" strike="noStrike" cap="none"/>
          </a:p>
        </p:txBody>
      </p:sp>
      <p:sp>
        <p:nvSpPr>
          <p:cNvPr id="262" name="Google Shape;262;p19"/>
          <p:cNvSpPr/>
          <p:nvPr/>
        </p:nvSpPr>
        <p:spPr>
          <a:xfrm>
            <a:off x="8176736" y="5859899"/>
            <a:ext cx="291381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0.141s</a:t>
            </a:r>
            <a:endParaRPr sz="1500" b="0" i="0" u="none" strike="noStrike" cap="none"/>
          </a:p>
        </p:txBody>
      </p:sp>
      <p:sp>
        <p:nvSpPr>
          <p:cNvPr id="263" name="Google Shape;263;p19"/>
          <p:cNvSpPr/>
          <p:nvPr/>
        </p:nvSpPr>
        <p:spPr>
          <a:xfrm>
            <a:off x="11488698" y="5859899"/>
            <a:ext cx="2255163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1.12× slower</a:t>
            </a:r>
            <a:endParaRPr sz="1500" b="0" i="0" u="none" strike="noStrike" cap="none"/>
          </a:p>
        </p:txBody>
      </p:sp>
      <p:sp>
        <p:nvSpPr>
          <p:cNvPr id="264" name="Google Shape;264;p19"/>
          <p:cNvSpPr/>
          <p:nvPr/>
        </p:nvSpPr>
        <p:spPr>
          <a:xfrm>
            <a:off x="683657" y="6524506"/>
            <a:ext cx="6533912" cy="1171099"/>
          </a:xfrm>
          <a:prstGeom prst="roundRect">
            <a:avLst>
              <a:gd name="adj" fmla="val 2502"/>
            </a:avLst>
          </a:prstGeom>
          <a:solidFill>
            <a:srgbClr val="FFFFFF"/>
          </a:solidFill>
          <a:ln w="22850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901779" y="6742628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lang="en-US" sz="19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Easiest Classes</a:t>
            </a:r>
            <a:endParaRPr sz="1900" b="0" i="0" u="none" strike="noStrike" cap="none"/>
          </a:p>
        </p:txBody>
      </p:sp>
      <p:sp>
        <p:nvSpPr>
          <p:cNvPr id="266" name="Google Shape;266;p19"/>
          <p:cNvSpPr/>
          <p:nvPr/>
        </p:nvSpPr>
        <p:spPr>
          <a:xfrm>
            <a:off x="901779" y="7164943"/>
            <a:ext cx="609766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Trouser (99%), Bag (99%), Sandal (99%) - distinctive shapes</a:t>
            </a:r>
            <a:endParaRPr sz="1500" b="0" i="0" u="none" strike="noStrike" cap="none"/>
          </a:p>
        </p:txBody>
      </p:sp>
      <p:sp>
        <p:nvSpPr>
          <p:cNvPr id="267" name="Google Shape;267;p19"/>
          <p:cNvSpPr/>
          <p:nvPr/>
        </p:nvSpPr>
        <p:spPr>
          <a:xfrm>
            <a:off x="7412831" y="6524506"/>
            <a:ext cx="6533912" cy="1171099"/>
          </a:xfrm>
          <a:prstGeom prst="roundRect">
            <a:avLst>
              <a:gd name="adj" fmla="val 2502"/>
            </a:avLst>
          </a:prstGeom>
          <a:solidFill>
            <a:srgbClr val="FFFFFF"/>
          </a:solidFill>
          <a:ln w="22850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7630954" y="6742628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lang="en-US" sz="19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Hardest Class</a:t>
            </a:r>
            <a:endParaRPr sz="1900" b="0" i="0" u="none" strike="noStrike" cap="none"/>
          </a:p>
        </p:txBody>
      </p:sp>
      <p:sp>
        <p:nvSpPr>
          <p:cNvPr id="269" name="Google Shape;269;p19"/>
          <p:cNvSpPr/>
          <p:nvPr/>
        </p:nvSpPr>
        <p:spPr>
          <a:xfrm>
            <a:off x="7630954" y="7164943"/>
            <a:ext cx="6097667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Shirt: ANN 65.8% → CNN 85.0% (</a:t>
            </a:r>
            <a:r>
              <a:rPr lang="en-US" sz="1500" b="1" i="0" u="none" strike="noStrike" cap="none">
                <a:solidFill>
                  <a:srgbClr val="3E251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+19.2% improvement!</a:t>
            </a: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)</a:t>
            </a:r>
            <a:endParaRPr sz="1500" b="0" i="0" u="none" strike="noStrike" cap="none"/>
          </a:p>
        </p:txBody>
      </p:sp>
      <p:sp>
        <p:nvSpPr>
          <p:cNvPr id="270" name="Google Shape;270;p19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/>
          <p:nvPr/>
        </p:nvSpPr>
        <p:spPr>
          <a:xfrm>
            <a:off x="674370" y="3490"/>
            <a:ext cx="6602373" cy="60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lang="en-US" sz="375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Discussion &amp; Interpretation</a:t>
            </a:r>
            <a:endParaRPr sz="3750" b="0" i="0" u="none" strike="noStrike" cap="none" dirty="0"/>
          </a:p>
        </p:txBody>
      </p:sp>
      <p:sp>
        <p:nvSpPr>
          <p:cNvPr id="277" name="Google Shape;277;p20"/>
          <p:cNvSpPr/>
          <p:nvPr/>
        </p:nvSpPr>
        <p:spPr>
          <a:xfrm>
            <a:off x="674370" y="1360051"/>
            <a:ext cx="4026218" cy="361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50"/>
              <a:buFont typeface="Platypi Medium"/>
              <a:buNone/>
            </a:pPr>
            <a:r>
              <a:rPr lang="en-US" sz="225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CNN Outperforms ANN</a:t>
            </a:r>
            <a:endParaRPr sz="2250" b="0" i="0" u="none" strike="noStrike" cap="none"/>
          </a:p>
        </p:txBody>
      </p:sp>
      <p:pic>
        <p:nvPicPr>
          <p:cNvPr id="278" name="Google Shape;278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370" y="2010370"/>
            <a:ext cx="481608" cy="481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/>
          <p:nvPr/>
        </p:nvSpPr>
        <p:spPr>
          <a:xfrm>
            <a:off x="674370" y="2732723"/>
            <a:ext cx="3348990" cy="30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Spatial Feature Preservation</a:t>
            </a:r>
            <a:endParaRPr sz="1850" b="0" i="0" u="none" strike="noStrike" cap="none"/>
          </a:p>
        </p:txBody>
      </p:sp>
      <p:sp>
        <p:nvSpPr>
          <p:cNvPr id="280" name="Google Shape;280;p20"/>
          <p:cNvSpPr/>
          <p:nvPr/>
        </p:nvSpPr>
        <p:spPr>
          <a:xfrm>
            <a:off x="674370" y="3149322"/>
            <a:ext cx="6520458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Convolutions respect image structure, detecting edges, textures, and shapes hierarchically rather than treating pixels independently.</a:t>
            </a:r>
            <a:endParaRPr sz="1500" b="0" i="0" u="none" strike="noStrike" cap="none"/>
          </a:p>
        </p:txBody>
      </p:sp>
      <p:pic>
        <p:nvPicPr>
          <p:cNvPr id="281" name="Google Shape;281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5572" y="2010370"/>
            <a:ext cx="481608" cy="481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0"/>
          <p:cNvSpPr/>
          <p:nvPr/>
        </p:nvSpPr>
        <p:spPr>
          <a:xfrm>
            <a:off x="7435572" y="2732723"/>
            <a:ext cx="2469118" cy="30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Parameter Efficiency</a:t>
            </a:r>
            <a:endParaRPr sz="1850" b="0" i="0" u="none" strike="noStrike" cap="none"/>
          </a:p>
        </p:txBody>
      </p:sp>
      <p:sp>
        <p:nvSpPr>
          <p:cNvPr id="283" name="Google Shape;283;p20"/>
          <p:cNvSpPr/>
          <p:nvPr/>
        </p:nvSpPr>
        <p:spPr>
          <a:xfrm>
            <a:off x="7435572" y="3149322"/>
            <a:ext cx="6520458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Weight sharing across spatial locations means a 3×3 filter applies everywhere, versus unique weights for every pixel in ANN.</a:t>
            </a:r>
            <a:endParaRPr sz="1500" b="0" i="0" u="none" strike="noStrike" cap="none"/>
          </a:p>
        </p:txBody>
      </p:sp>
      <p:pic>
        <p:nvPicPr>
          <p:cNvPr id="284" name="Google Shape;284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370" y="4150876"/>
            <a:ext cx="481608" cy="481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/>
          <p:nvPr/>
        </p:nvSpPr>
        <p:spPr>
          <a:xfrm>
            <a:off x="674370" y="4873228"/>
            <a:ext cx="2658547" cy="30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Translation Invariance</a:t>
            </a:r>
            <a:endParaRPr sz="1850" b="0" i="0" u="none" strike="noStrike" cap="none"/>
          </a:p>
        </p:txBody>
      </p:sp>
      <p:sp>
        <p:nvSpPr>
          <p:cNvPr id="286" name="Google Shape;286;p20"/>
          <p:cNvSpPr/>
          <p:nvPr/>
        </p:nvSpPr>
        <p:spPr>
          <a:xfrm>
            <a:off x="674370" y="5289828"/>
            <a:ext cx="6520458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Max pooling provides robustness, recognizing garments regardless of slight position shifts in the image.</a:t>
            </a:r>
            <a:endParaRPr sz="1500" b="0" i="0" u="none" strike="noStrike" cap="none"/>
          </a:p>
        </p:txBody>
      </p:sp>
      <p:pic>
        <p:nvPicPr>
          <p:cNvPr id="287" name="Google Shape;287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5572" y="4150876"/>
            <a:ext cx="481608" cy="481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/>
          <p:nvPr/>
        </p:nvSpPr>
        <p:spPr>
          <a:xfrm>
            <a:off x="7435572" y="4873228"/>
            <a:ext cx="2731770" cy="30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Augmentation Synergy</a:t>
            </a:r>
            <a:endParaRPr sz="1850" b="0" i="0" u="none" strike="noStrike" cap="none"/>
          </a:p>
        </p:txBody>
      </p:sp>
      <p:sp>
        <p:nvSpPr>
          <p:cNvPr id="289" name="Google Shape;289;p20"/>
          <p:cNvSpPr/>
          <p:nvPr/>
        </p:nvSpPr>
        <p:spPr>
          <a:xfrm>
            <a:off x="7435572" y="5289828"/>
            <a:ext cx="6520458" cy="6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CNNs benefit more from augmented variations, learning robust spatial features from rotated and shifted images.</a:t>
            </a:r>
            <a:endParaRPr sz="1500" b="0" i="0" u="none" strike="noStrike" cap="none"/>
          </a:p>
        </p:txBody>
      </p:sp>
      <p:sp>
        <p:nvSpPr>
          <p:cNvPr id="290" name="Google Shape;290;p20"/>
          <p:cNvSpPr/>
          <p:nvPr/>
        </p:nvSpPr>
        <p:spPr>
          <a:xfrm>
            <a:off x="674370" y="6122789"/>
            <a:ext cx="6544508" cy="1425773"/>
          </a:xfrm>
          <a:prstGeom prst="roundRect">
            <a:avLst>
              <a:gd name="adj" fmla="val 2027"/>
            </a:avLst>
          </a:prstGeom>
          <a:solidFill>
            <a:srgbClr val="3E2513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867013" y="6315432"/>
            <a:ext cx="2441972" cy="30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FFFFFF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Most Confused Pairs</a:t>
            </a:r>
            <a:endParaRPr sz="1850" b="0" i="0" u="none" strike="noStrike" cap="none"/>
          </a:p>
        </p:txBody>
      </p:sp>
      <p:sp>
        <p:nvSpPr>
          <p:cNvPr id="292" name="Google Shape;292;p20"/>
          <p:cNvSpPr/>
          <p:nvPr/>
        </p:nvSpPr>
        <p:spPr>
          <a:xfrm>
            <a:off x="867013" y="6732032"/>
            <a:ext cx="6159222" cy="62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Shirt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↔</a:t>
            </a:r>
            <a:r>
              <a:rPr lang="en-US" sz="1500" b="0" i="0" u="none" strike="noStrike" cap="non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T-shirt/top (145 errors), Pullover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↔</a:t>
            </a:r>
            <a:r>
              <a:rPr lang="en-US" sz="1500" b="0" i="0" u="none" strike="noStrike" cap="non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Coat (104 errors) - visual similarity challenges both models</a:t>
            </a:r>
            <a:endParaRPr sz="1500" b="0" i="0" u="none" strike="noStrike" cap="none"/>
          </a:p>
        </p:txBody>
      </p:sp>
      <p:sp>
        <p:nvSpPr>
          <p:cNvPr id="293" name="Google Shape;293;p20"/>
          <p:cNvSpPr/>
          <p:nvPr/>
        </p:nvSpPr>
        <p:spPr>
          <a:xfrm>
            <a:off x="7411522" y="6122789"/>
            <a:ext cx="6544508" cy="1425773"/>
          </a:xfrm>
          <a:prstGeom prst="roundRect">
            <a:avLst>
              <a:gd name="adj" fmla="val 2027"/>
            </a:avLst>
          </a:prstGeom>
          <a:solidFill>
            <a:srgbClr val="3E2513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7604165" y="6315432"/>
            <a:ext cx="2408515" cy="30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FFFFFF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CNN Advantage</a:t>
            </a:r>
            <a:endParaRPr sz="1850" b="0" i="0" u="none" strike="noStrike" cap="none"/>
          </a:p>
        </p:txBody>
      </p:sp>
      <p:sp>
        <p:nvSpPr>
          <p:cNvPr id="295" name="Google Shape;295;p20"/>
          <p:cNvSpPr/>
          <p:nvPr/>
        </p:nvSpPr>
        <p:spPr>
          <a:xfrm>
            <a:off x="7604165" y="6732032"/>
            <a:ext cx="6159222" cy="62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ource Serif 4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Coat</a:t>
            </a:r>
            <a:r>
              <a:rPr lang="en-US" sz="15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↔</a:t>
            </a:r>
            <a:r>
              <a:rPr lang="en-US" sz="1500" b="0" i="0" u="none" strike="noStrike" cap="non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Pullover errors reduced 46% (98→53), demonstrating better spatial feature learning</a:t>
            </a:r>
            <a:endParaRPr sz="1500" b="0" i="0" u="none" strike="noStrike" cap="none"/>
          </a:p>
        </p:txBody>
      </p:sp>
      <p:sp>
        <p:nvSpPr>
          <p:cNvPr id="296" name="Google Shape;296;p20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/>
          <p:nvPr/>
        </p:nvSpPr>
        <p:spPr>
          <a:xfrm>
            <a:off x="396835" y="370523"/>
            <a:ext cx="1969532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00"/>
              <a:buFont typeface="Platypi Medium"/>
              <a:buNone/>
            </a:pPr>
            <a:r>
              <a:rPr lang="en-US" sz="13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Conclusion &amp; Summary</a:t>
            </a:r>
            <a:endParaRPr sz="1300" b="0" i="0" u="none" strike="noStrike" cap="none"/>
          </a:p>
        </p:txBody>
      </p:sp>
      <p:sp>
        <p:nvSpPr>
          <p:cNvPr id="303" name="Google Shape;303;p21"/>
          <p:cNvSpPr/>
          <p:nvPr/>
        </p:nvSpPr>
        <p:spPr>
          <a:xfrm>
            <a:off x="396835" y="753189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Char char="•"/>
            </a:pPr>
            <a:r>
              <a:rPr lang="en-US" sz="85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CNN achieves 92.67% accuracy</a:t>
            </a:r>
            <a:endParaRPr sz="850" b="0" i="0" u="none" strike="noStrike" cap="none"/>
          </a:p>
        </p:txBody>
      </p:sp>
      <p:sp>
        <p:nvSpPr>
          <p:cNvPr id="304" name="Google Shape;304;p21"/>
          <p:cNvSpPr/>
          <p:nvPr/>
        </p:nvSpPr>
        <p:spPr>
          <a:xfrm>
            <a:off x="396835" y="1189673"/>
            <a:ext cx="13836729" cy="1524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2647950" y="1189613"/>
            <a:ext cx="15240" cy="34016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2528054" y="1062097"/>
            <a:ext cx="255151" cy="255151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2570559" y="1083290"/>
            <a:ext cx="170021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Platypi Medium"/>
              <a:buNone/>
            </a:pPr>
            <a:r>
              <a:rPr lang="en-US" sz="13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sz="1300" b="0" i="0" u="none" strike="noStrike" cap="none"/>
          </a:p>
        </p:txBody>
      </p:sp>
      <p:sp>
        <p:nvSpPr>
          <p:cNvPr id="308" name="Google Shape;308;p21"/>
          <p:cNvSpPr/>
          <p:nvPr/>
        </p:nvSpPr>
        <p:spPr>
          <a:xfrm>
            <a:off x="1946910" y="1643301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Platypi Medium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Achievement</a:t>
            </a:r>
            <a:endParaRPr sz="1100" b="0" i="0" u="none" strike="noStrike" cap="none"/>
          </a:p>
        </p:txBody>
      </p:sp>
      <p:sp>
        <p:nvSpPr>
          <p:cNvPr id="309" name="Google Shape;309;p21"/>
          <p:cNvSpPr/>
          <p:nvPr/>
        </p:nvSpPr>
        <p:spPr>
          <a:xfrm>
            <a:off x="510183" y="1888450"/>
            <a:ext cx="4291013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None/>
            </a:pPr>
            <a:r>
              <a:rPr lang="en-US" sz="8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CNN outperforms ANN by 4.15%, validating spatial inductive biases for image classification tasks</a:t>
            </a:r>
            <a:endParaRPr sz="850" b="0" i="0" u="none" strike="noStrike" cap="none"/>
          </a:p>
        </p:txBody>
      </p:sp>
      <p:sp>
        <p:nvSpPr>
          <p:cNvPr id="310" name="Google Shape;310;p21"/>
          <p:cNvSpPr/>
          <p:nvPr/>
        </p:nvSpPr>
        <p:spPr>
          <a:xfrm>
            <a:off x="7307342" y="1189613"/>
            <a:ext cx="15240" cy="34016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7187446" y="1062097"/>
            <a:ext cx="255151" cy="255151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7229951" y="1083290"/>
            <a:ext cx="170021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Platypi Medium"/>
              <a:buNone/>
            </a:pPr>
            <a:r>
              <a:rPr lang="en-US" sz="13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sz="1300" b="0" i="0" u="none" strike="noStrike" cap="none"/>
          </a:p>
        </p:txBody>
      </p:sp>
      <p:sp>
        <p:nvSpPr>
          <p:cNvPr id="313" name="Google Shape;313;p21"/>
          <p:cNvSpPr/>
          <p:nvPr/>
        </p:nvSpPr>
        <p:spPr>
          <a:xfrm>
            <a:off x="6566059" y="1643301"/>
            <a:ext cx="1498163" cy="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Platypi Medium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Persistent Challenges</a:t>
            </a:r>
            <a:endParaRPr sz="1100" b="0" i="0" u="none" strike="noStrike" cap="none"/>
          </a:p>
        </p:txBody>
      </p:sp>
      <p:sp>
        <p:nvSpPr>
          <p:cNvPr id="314" name="Google Shape;314;p21"/>
          <p:cNvSpPr/>
          <p:nvPr/>
        </p:nvSpPr>
        <p:spPr>
          <a:xfrm>
            <a:off x="5169575" y="2005489"/>
            <a:ext cx="4291132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None/>
            </a:pPr>
            <a:r>
              <a:rPr lang="en-US" sz="8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Identified visual similarity issues (Shirt classification, Coat vs Pullover) that challenge even advanced models</a:t>
            </a:r>
            <a:endParaRPr sz="850" b="0" i="0" u="none" strike="noStrike" cap="none" dirty="0"/>
          </a:p>
        </p:txBody>
      </p:sp>
      <p:sp>
        <p:nvSpPr>
          <p:cNvPr id="315" name="Google Shape;315;p21"/>
          <p:cNvSpPr/>
          <p:nvPr/>
        </p:nvSpPr>
        <p:spPr>
          <a:xfrm>
            <a:off x="11966853" y="1189613"/>
            <a:ext cx="15240" cy="340162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11846957" y="1062097"/>
            <a:ext cx="255151" cy="255151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11889462" y="1083290"/>
            <a:ext cx="170021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Platypi Medium"/>
              <a:buNone/>
            </a:pPr>
            <a:r>
              <a:rPr lang="en-US" sz="13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sz="1300" b="0" i="0" u="none" strike="noStrike" cap="none"/>
          </a:p>
        </p:txBody>
      </p:sp>
      <p:sp>
        <p:nvSpPr>
          <p:cNvPr id="318" name="Google Shape;318;p21"/>
          <p:cNvSpPr/>
          <p:nvPr/>
        </p:nvSpPr>
        <p:spPr>
          <a:xfrm>
            <a:off x="11265813" y="1643301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Platypi Medium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Modern Techniques</a:t>
            </a:r>
            <a:endParaRPr sz="1100" b="0" i="0" u="none" strike="noStrike" cap="none"/>
          </a:p>
        </p:txBody>
      </p:sp>
      <p:sp>
        <p:nvSpPr>
          <p:cNvPr id="319" name="Google Shape;319;p21"/>
          <p:cNvSpPr/>
          <p:nvPr/>
        </p:nvSpPr>
        <p:spPr>
          <a:xfrm>
            <a:off x="9829086" y="1888450"/>
            <a:ext cx="4291132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None/>
            </a:pPr>
            <a:r>
              <a:rPr lang="en-US" sz="8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Demonstrated impact of batch normalization, data augmentation, and regularization on model performance</a:t>
            </a:r>
            <a:endParaRPr sz="850" b="0" i="0" u="none" strike="noStrike" cap="none"/>
          </a:p>
        </p:txBody>
      </p:sp>
      <p:sp>
        <p:nvSpPr>
          <p:cNvPr id="320" name="Google Shape;320;p21"/>
          <p:cNvSpPr/>
          <p:nvPr/>
        </p:nvSpPr>
        <p:spPr>
          <a:xfrm>
            <a:off x="396835" y="2492216"/>
            <a:ext cx="1701165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00"/>
              <a:buFont typeface="Platypi Medium"/>
              <a:buNone/>
            </a:pPr>
            <a:r>
              <a:rPr lang="en-US" sz="13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Lessons Learned</a:t>
            </a:r>
            <a:endParaRPr sz="1300" b="0" i="0" u="none" strike="noStrike" cap="none"/>
          </a:p>
        </p:txBody>
      </p:sp>
      <p:sp>
        <p:nvSpPr>
          <p:cNvPr id="321" name="Google Shape;321;p21"/>
          <p:cNvSpPr/>
          <p:nvPr/>
        </p:nvSpPr>
        <p:spPr>
          <a:xfrm>
            <a:off x="396835" y="2818209"/>
            <a:ext cx="6780014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Char char="•"/>
            </a:pPr>
            <a:r>
              <a:rPr lang="en-US" sz="8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Architecture must match data structure (spatial → convolutional)</a:t>
            </a:r>
            <a:endParaRPr sz="850" b="0" i="0" u="none" strike="noStrike" cap="none"/>
          </a:p>
        </p:txBody>
      </p:sp>
      <p:sp>
        <p:nvSpPr>
          <p:cNvPr id="322" name="Google Shape;322;p21"/>
          <p:cNvSpPr/>
          <p:nvPr/>
        </p:nvSpPr>
        <p:spPr>
          <a:xfrm>
            <a:off x="396835" y="3039308"/>
            <a:ext cx="6780014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Char char="•"/>
            </a:pPr>
            <a:r>
              <a:rPr lang="en-US" sz="8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Regularization crucial for generalization</a:t>
            </a:r>
            <a:endParaRPr sz="850" b="0" i="0" u="none" strike="noStrike" cap="none"/>
          </a:p>
        </p:txBody>
      </p:sp>
      <p:sp>
        <p:nvSpPr>
          <p:cNvPr id="323" name="Google Shape;323;p21"/>
          <p:cNvSpPr/>
          <p:nvPr/>
        </p:nvSpPr>
        <p:spPr>
          <a:xfrm>
            <a:off x="396835" y="3260408"/>
            <a:ext cx="6780014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Char char="•"/>
            </a:pPr>
            <a:r>
              <a:rPr lang="en-US" sz="8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Trade-off: 53.7% more parameters for meaningful accuracy gain</a:t>
            </a:r>
            <a:endParaRPr sz="850" b="0" i="0" u="none" strike="noStrike" cap="none"/>
          </a:p>
        </p:txBody>
      </p:sp>
      <p:pic>
        <p:nvPicPr>
          <p:cNvPr id="324" name="Google Shape;324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835" y="3569375"/>
            <a:ext cx="2161103" cy="1529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/>
          <p:nvPr/>
        </p:nvSpPr>
        <p:spPr>
          <a:xfrm>
            <a:off x="396835" y="5225891"/>
            <a:ext cx="6780014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SzPts val="850"/>
              <a:buFont typeface="Arial"/>
              <a:buNone/>
            </a:pPr>
            <a:endParaRPr sz="850" b="0" i="0" u="none" strike="noStrike" cap="none"/>
          </a:p>
        </p:txBody>
      </p:sp>
      <p:sp>
        <p:nvSpPr>
          <p:cNvPr id="326" name="Google Shape;326;p21"/>
          <p:cNvSpPr/>
          <p:nvPr/>
        </p:nvSpPr>
        <p:spPr>
          <a:xfrm>
            <a:off x="7461171" y="2492216"/>
            <a:ext cx="1701165" cy="21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00"/>
              <a:buFont typeface="Platypi Medium"/>
              <a:buNone/>
            </a:pPr>
            <a:r>
              <a:rPr lang="en-US" sz="13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Trade-offs</a:t>
            </a:r>
            <a:endParaRPr sz="1300" b="0" i="0" u="none" strike="noStrike" cap="none"/>
          </a:p>
        </p:txBody>
      </p:sp>
      <p:sp>
        <p:nvSpPr>
          <p:cNvPr id="327" name="Google Shape;327;p21"/>
          <p:cNvSpPr/>
          <p:nvPr/>
        </p:nvSpPr>
        <p:spPr>
          <a:xfrm>
            <a:off x="7461171" y="2818209"/>
            <a:ext cx="6780014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Char char="•"/>
            </a:pPr>
            <a:r>
              <a:rPr lang="en-US" sz="8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CNN: Better accuracy, slower inference</a:t>
            </a:r>
            <a:endParaRPr sz="850" b="0" i="0" u="none" strike="noStrike" cap="none"/>
          </a:p>
        </p:txBody>
      </p:sp>
      <p:sp>
        <p:nvSpPr>
          <p:cNvPr id="328" name="Google Shape;328;p21"/>
          <p:cNvSpPr/>
          <p:nvPr/>
        </p:nvSpPr>
        <p:spPr>
          <a:xfrm>
            <a:off x="7461171" y="3039308"/>
            <a:ext cx="6780014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Char char="•"/>
            </a:pPr>
            <a:r>
              <a:rPr lang="en-US" sz="8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ANN: Faster predictions, lower accuracy</a:t>
            </a:r>
            <a:endParaRPr sz="850" b="0" i="0" u="none" strike="noStrike" cap="none"/>
          </a:p>
        </p:txBody>
      </p:sp>
      <p:sp>
        <p:nvSpPr>
          <p:cNvPr id="329" name="Google Shape;329;p21"/>
          <p:cNvSpPr/>
          <p:nvPr/>
        </p:nvSpPr>
        <p:spPr>
          <a:xfrm>
            <a:off x="7461171" y="3260408"/>
            <a:ext cx="6780014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50"/>
              <a:buFont typeface="Source Serif 4"/>
              <a:buChar char="•"/>
            </a:pPr>
            <a:r>
              <a:rPr lang="en-US" sz="8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Parameter efficiency ≠ computational efficiency</a:t>
            </a:r>
            <a:endParaRPr sz="850" b="0" i="0" u="none" strike="noStrike" cap="none"/>
          </a:p>
        </p:txBody>
      </p:sp>
      <p:pic>
        <p:nvPicPr>
          <p:cNvPr id="330" name="Google Shape;330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1171" y="3569375"/>
            <a:ext cx="4423886" cy="387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/>
          <p:nvPr/>
        </p:nvSpPr>
        <p:spPr>
          <a:xfrm>
            <a:off x="7461171" y="7575590"/>
            <a:ext cx="6780014" cy="1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SzPts val="850"/>
              <a:buFont typeface="Arial"/>
              <a:buNone/>
            </a:pPr>
            <a:endParaRPr sz="850" b="0" i="0" u="none" strike="noStrike" cap="none"/>
          </a:p>
        </p:txBody>
      </p:sp>
      <p:sp>
        <p:nvSpPr>
          <p:cNvPr id="332" name="Google Shape;332;p21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/>
          <p:nvPr/>
        </p:nvSpPr>
        <p:spPr>
          <a:xfrm>
            <a:off x="606028" y="71914"/>
            <a:ext cx="7867888" cy="58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70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Future Work &amp; Acknowledgments</a:t>
            </a:r>
            <a:endParaRPr sz="3700" b="0" i="0" u="none" strike="noStrike" cap="none" dirty="0"/>
          </a:p>
        </p:txBody>
      </p:sp>
      <p:sp>
        <p:nvSpPr>
          <p:cNvPr id="339" name="Google Shape;339;p22"/>
          <p:cNvSpPr/>
          <p:nvPr/>
        </p:nvSpPr>
        <p:spPr>
          <a:xfrm>
            <a:off x="659606" y="3156228"/>
            <a:ext cx="13311188" cy="22860"/>
          </a:xfrm>
          <a:prstGeom prst="roundRect">
            <a:avLst>
              <a:gd name="adj" fmla="val 123676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3916918" y="2590860"/>
            <a:ext cx="22860" cy="565428"/>
          </a:xfrm>
          <a:prstGeom prst="roundRect">
            <a:avLst>
              <a:gd name="adj" fmla="val 123676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2"/>
          <p:cNvSpPr/>
          <p:nvPr/>
        </p:nvSpPr>
        <p:spPr>
          <a:xfrm>
            <a:off x="3716417" y="2944237"/>
            <a:ext cx="423982" cy="423982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3787021" y="2979480"/>
            <a:ext cx="282654" cy="35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sz="2200" b="0" i="0" u="none" strike="noStrike" cap="none"/>
          </a:p>
        </p:txBody>
      </p:sp>
      <p:sp>
        <p:nvSpPr>
          <p:cNvPr id="343" name="Google Shape;343;p22"/>
          <p:cNvSpPr/>
          <p:nvPr/>
        </p:nvSpPr>
        <p:spPr>
          <a:xfrm>
            <a:off x="2750463" y="1391960"/>
            <a:ext cx="2356009" cy="29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Short-term</a:t>
            </a:r>
            <a:endParaRPr sz="1850" b="0" i="0" u="none" strike="noStrike" cap="none"/>
          </a:p>
        </p:txBody>
      </p:sp>
      <p:sp>
        <p:nvSpPr>
          <p:cNvPr id="344" name="Google Shape;344;p22"/>
          <p:cNvSpPr/>
          <p:nvPr/>
        </p:nvSpPr>
        <p:spPr>
          <a:xfrm>
            <a:off x="980408" y="1886307"/>
            <a:ext cx="6160889" cy="602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Stratified splitting, ensemble methods, attention mechanisms for focusing on discriminative regions</a:t>
            </a:r>
            <a:endParaRPr sz="1450" b="0" i="0" u="none" strike="noStrike" cap="none"/>
          </a:p>
        </p:txBody>
      </p:sp>
      <p:sp>
        <p:nvSpPr>
          <p:cNvPr id="345" name="Google Shape;345;p22"/>
          <p:cNvSpPr/>
          <p:nvPr/>
        </p:nvSpPr>
        <p:spPr>
          <a:xfrm>
            <a:off x="7303532" y="3156168"/>
            <a:ext cx="22860" cy="565428"/>
          </a:xfrm>
          <a:prstGeom prst="roundRect">
            <a:avLst>
              <a:gd name="adj" fmla="val 123676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7103031" y="2944237"/>
            <a:ext cx="423982" cy="423982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7173635" y="2979480"/>
            <a:ext cx="282654" cy="35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sz="2200" b="0" i="0" u="none" strike="noStrike" cap="none"/>
          </a:p>
        </p:txBody>
      </p:sp>
      <p:sp>
        <p:nvSpPr>
          <p:cNvPr id="348" name="Google Shape;348;p22"/>
          <p:cNvSpPr/>
          <p:nvPr/>
        </p:nvSpPr>
        <p:spPr>
          <a:xfrm>
            <a:off x="6137077" y="3910132"/>
            <a:ext cx="2356009" cy="29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Medium-term</a:t>
            </a:r>
            <a:endParaRPr sz="1850" b="0" i="0" u="none" strike="noStrike" cap="none"/>
          </a:p>
        </p:txBody>
      </p:sp>
      <p:sp>
        <p:nvSpPr>
          <p:cNvPr id="349" name="Google Shape;349;p22"/>
          <p:cNvSpPr/>
          <p:nvPr/>
        </p:nvSpPr>
        <p:spPr>
          <a:xfrm>
            <a:off x="4234696" y="4317563"/>
            <a:ext cx="6160889" cy="602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Transfer learning with ResNet, hyperparameter optimization using Optuna, deeper CNN architectures</a:t>
            </a:r>
            <a:endParaRPr sz="1450" b="0" i="0" u="none" strike="noStrike" cap="none"/>
          </a:p>
        </p:txBody>
      </p:sp>
      <p:sp>
        <p:nvSpPr>
          <p:cNvPr id="350" name="Google Shape;350;p22"/>
          <p:cNvSpPr/>
          <p:nvPr/>
        </p:nvSpPr>
        <p:spPr>
          <a:xfrm>
            <a:off x="10690265" y="2590860"/>
            <a:ext cx="22860" cy="565428"/>
          </a:xfrm>
          <a:prstGeom prst="roundRect">
            <a:avLst>
              <a:gd name="adj" fmla="val 123676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2"/>
          <p:cNvSpPr/>
          <p:nvPr/>
        </p:nvSpPr>
        <p:spPr>
          <a:xfrm>
            <a:off x="10489763" y="2944237"/>
            <a:ext cx="423982" cy="423982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10560368" y="2979480"/>
            <a:ext cx="282654" cy="35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sz="2200" b="0" i="0" u="none" strike="noStrike" cap="none"/>
          </a:p>
        </p:txBody>
      </p:sp>
      <p:sp>
        <p:nvSpPr>
          <p:cNvPr id="353" name="Google Shape;353;p22"/>
          <p:cNvSpPr/>
          <p:nvPr/>
        </p:nvSpPr>
        <p:spPr>
          <a:xfrm>
            <a:off x="9523809" y="1391960"/>
            <a:ext cx="2356009" cy="29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Long-term</a:t>
            </a:r>
            <a:endParaRPr sz="1850" b="0" i="0" u="none" strike="noStrike" cap="none"/>
          </a:p>
        </p:txBody>
      </p:sp>
      <p:sp>
        <p:nvSpPr>
          <p:cNvPr id="354" name="Google Shape;354;p22"/>
          <p:cNvSpPr/>
          <p:nvPr/>
        </p:nvSpPr>
        <p:spPr>
          <a:xfrm>
            <a:off x="7621429" y="1799392"/>
            <a:ext cx="6160889" cy="602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Vision Transformers, explainability with Grad-CAM, model quantization for mobile deployment</a:t>
            </a:r>
            <a:endParaRPr sz="1450" b="0" i="0" u="none" strike="noStrike" cap="none"/>
          </a:p>
        </p:txBody>
      </p:sp>
      <p:sp>
        <p:nvSpPr>
          <p:cNvPr id="355" name="Google Shape;355;p22"/>
          <p:cNvSpPr/>
          <p:nvPr/>
        </p:nvSpPr>
        <p:spPr>
          <a:xfrm>
            <a:off x="659606" y="5144214"/>
            <a:ext cx="3880366" cy="35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lang="en-US" sz="220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Deployment Considerations</a:t>
            </a:r>
            <a:endParaRPr sz="2200" b="0" i="0" u="none" strike="noStrike" cap="none" dirty="0"/>
          </a:p>
        </p:txBody>
      </p:sp>
      <p:sp>
        <p:nvSpPr>
          <p:cNvPr id="356" name="Google Shape;356;p22"/>
          <p:cNvSpPr/>
          <p:nvPr/>
        </p:nvSpPr>
        <p:spPr>
          <a:xfrm>
            <a:off x="659606" y="5862757"/>
            <a:ext cx="6425684" cy="301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Char char="•"/>
            </a:pPr>
            <a:r>
              <a:rPr lang="en-US" sz="145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 quantization (INT8) for speed optimization</a:t>
            </a:r>
            <a:endParaRPr sz="1450" b="0" i="0" u="none" strike="noStrike" cap="none" dirty="0"/>
          </a:p>
        </p:txBody>
      </p:sp>
      <p:sp>
        <p:nvSpPr>
          <p:cNvPr id="357" name="Google Shape;357;p22"/>
          <p:cNvSpPr/>
          <p:nvPr/>
        </p:nvSpPr>
        <p:spPr>
          <a:xfrm>
            <a:off x="659606" y="6230183"/>
            <a:ext cx="6425684" cy="301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Char char="•"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TensorFlow Lite for mobile applications</a:t>
            </a:r>
            <a:endParaRPr sz="1450" b="0" i="0" u="none" strike="noStrike" cap="none"/>
          </a:p>
        </p:txBody>
      </p:sp>
      <p:sp>
        <p:nvSpPr>
          <p:cNvPr id="358" name="Google Shape;358;p22"/>
          <p:cNvSpPr/>
          <p:nvPr/>
        </p:nvSpPr>
        <p:spPr>
          <a:xfrm>
            <a:off x="659606" y="6597610"/>
            <a:ext cx="6425684" cy="301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Char char="•"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Batch inference for server deployment</a:t>
            </a:r>
            <a:endParaRPr sz="1450" b="0" i="0" u="none" strike="noStrike" cap="none"/>
          </a:p>
        </p:txBody>
      </p:sp>
      <p:sp>
        <p:nvSpPr>
          <p:cNvPr id="359" name="Google Shape;359;p22"/>
          <p:cNvSpPr/>
          <p:nvPr/>
        </p:nvSpPr>
        <p:spPr>
          <a:xfrm>
            <a:off x="659606" y="6965037"/>
            <a:ext cx="6425684" cy="301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Char char="•"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Confidence thresholding to reject uncertain predictions</a:t>
            </a:r>
            <a:endParaRPr sz="1450" b="0" i="0" u="none" strike="noStrike" cap="none"/>
          </a:p>
        </p:txBody>
      </p:sp>
      <p:sp>
        <p:nvSpPr>
          <p:cNvPr id="360" name="Google Shape;360;p22"/>
          <p:cNvSpPr/>
          <p:nvPr/>
        </p:nvSpPr>
        <p:spPr>
          <a:xfrm>
            <a:off x="659606" y="7332464"/>
            <a:ext cx="6425684" cy="301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Char char="•"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Continuous monitoring for distribution drift</a:t>
            </a:r>
            <a:endParaRPr sz="1450" b="0" i="0" u="none" strike="noStrike" cap="none"/>
          </a:p>
        </p:txBody>
      </p:sp>
      <p:sp>
        <p:nvSpPr>
          <p:cNvPr id="361" name="Google Shape;361;p22"/>
          <p:cNvSpPr/>
          <p:nvPr/>
        </p:nvSpPr>
        <p:spPr>
          <a:xfrm>
            <a:off x="7552730" y="5320903"/>
            <a:ext cx="2827139" cy="35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Acknowledgments</a:t>
            </a:r>
            <a:endParaRPr sz="2200" b="0" i="0" u="none" strike="noStrike" cap="none"/>
          </a:p>
        </p:txBody>
      </p:sp>
      <p:sp>
        <p:nvSpPr>
          <p:cNvPr id="362" name="Google Shape;362;p22"/>
          <p:cNvSpPr/>
          <p:nvPr/>
        </p:nvSpPr>
        <p:spPr>
          <a:xfrm>
            <a:off x="7552730" y="5862757"/>
            <a:ext cx="6425684" cy="90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TensorFlow and Keras frameworks for implementation. Fashion-MNIST dataset creators for providing benchmark data. Deep Learning course instructors for guidance.</a:t>
            </a:r>
            <a:endParaRPr sz="1450" b="0" i="0" u="none" strike="noStrike" cap="none"/>
          </a:p>
        </p:txBody>
      </p:sp>
      <p:sp>
        <p:nvSpPr>
          <p:cNvPr id="363" name="Google Shape;363;p22"/>
          <p:cNvSpPr/>
          <p:nvPr/>
        </p:nvSpPr>
        <p:spPr>
          <a:xfrm>
            <a:off x="7552730" y="6936700"/>
            <a:ext cx="6425684" cy="602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lang="en-US" sz="145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Tools Used:</a:t>
            </a:r>
            <a:r>
              <a:rPr lang="en-US" sz="145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Python, TensorFlow 2.19, NumPy, Matplotlib, Seaborn, Scikit-learn</a:t>
            </a:r>
            <a:endParaRPr sz="1450" b="0" i="0" u="none" strike="noStrike" cap="none"/>
          </a:p>
        </p:txBody>
      </p:sp>
      <p:sp>
        <p:nvSpPr>
          <p:cNvPr id="364" name="Google Shape;364;p22"/>
          <p:cNvSpPr/>
          <p:nvPr/>
        </p:nvSpPr>
        <p:spPr>
          <a:xfrm>
            <a:off x="12739350" y="7766800"/>
            <a:ext cx="1792200" cy="36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953</Words>
  <Application>Microsoft Office PowerPoint</Application>
  <PresentationFormat>Custom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Platypi Medium</vt:lpstr>
      <vt:lpstr>Platypi Light</vt:lpstr>
      <vt:lpstr>Source Serif 4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neel anadkat</cp:lastModifiedBy>
  <cp:revision>6</cp:revision>
  <dcterms:modified xsi:type="dcterms:W3CDTF">2025-11-05T12:37:38Z</dcterms:modified>
</cp:coreProperties>
</file>